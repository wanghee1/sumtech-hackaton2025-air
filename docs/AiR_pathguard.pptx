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69" r:id="rId4"/>
    <p:sldId id="276" r:id="rId5"/>
    <p:sldId id="259" r:id="rId6"/>
    <p:sldId id="273" r:id="rId7"/>
    <p:sldId id="260" r:id="rId8"/>
    <p:sldId id="275" r:id="rId9"/>
    <p:sldId id="258" r:id="rId10"/>
    <p:sldId id="272" r:id="rId11"/>
    <p:sldId id="278" r:id="rId12"/>
    <p:sldId id="274" r:id="rId13"/>
    <p:sldId id="277" r:id="rId14"/>
    <p:sldId id="262" r:id="rId15"/>
    <p:sldId id="279" r:id="rId16"/>
    <p:sldId id="263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5ADFF"/>
    <a:srgbClr val="0C0B18"/>
    <a:srgbClr val="5B4B8C"/>
    <a:srgbClr val="0A0A14"/>
    <a:srgbClr val="528AD3"/>
    <a:srgbClr val="C75A41"/>
    <a:srgbClr val="000A0C"/>
    <a:srgbClr val="0B131B"/>
    <a:srgbClr val="C084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621" autoAdjust="0"/>
    <p:restoredTop sz="94610"/>
  </p:normalViewPr>
  <p:slideViewPr>
    <p:cSldViewPr snapToGrid="0" snapToObjects="1">
      <p:cViewPr varScale="1">
        <p:scale>
          <a:sx n="104" d="100"/>
          <a:sy n="104" d="100"/>
        </p:scale>
        <p:origin x="123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877012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4A26D8-270A-2DEF-EE39-749505C3D9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97A07FF-8F39-B086-2BCB-7E477C1F62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A488A23-D0B0-F361-1532-2C529AE331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C0AE2C-3D48-78FA-5789-B150E43E343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430488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B0DCE8-69FF-8E94-AFAB-DBE5907FCC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75EA168-FF8A-79A3-E666-5514AEE295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417B4F8-56CF-9C68-D1C0-C6763747D7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50E955-36C5-D1A5-F887-812718B4653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604264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CB9926-6874-5447-7B72-2F99380A10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F9BC8BD-E4CE-D962-3F5B-B5CC2041ED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C388A8-9AA4-000C-63F3-C6D2758C76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ADE3BD-CD10-51FE-E34C-2C3D952C791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995939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5F106C-F269-77EE-CBA8-A535D68F63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4B1694-955E-D1A7-289F-9B16D9BDAF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A1ABFE6-36C3-C35D-CD73-30D687347E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D80A75-B72D-99B1-50D5-470A9879CEF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119616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9E7766-AF3A-9514-FC4A-5DCF0C1A02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C432F0B-966D-4EF0-BBD2-2937B8972A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E9F4268-8C8C-90C4-EC1F-D8517E73EA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8E8195-E4E9-A7E0-CA5F-043763F82B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922853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F3A037-83B3-0B26-3AA3-D57FC55A5C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278E4A-FE92-FC13-9D7E-E7B7A96FFF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7826EB8-B3F5-B53C-B3FD-77BEDBA88D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D16011-6B8B-0A2E-E9AE-3608CF65348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560185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7.png"/><Relationship Id="rId2" Type="http://schemas.microsoft.com/office/2007/relationships/media" Target="../media/media1.mp4"/><Relationship Id="rId1" Type="http://schemas.openxmlformats.org/officeDocument/2006/relationships/video" Target="NULL" TargetMode="Externa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notesSlide" Target="../notesSlides/notesSlide2.xml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11.png"/><Relationship Id="rId7" Type="http://schemas.microsoft.com/office/2007/relationships/hdphoto" Target="../media/hdphoto1.wdp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13.png"/><Relationship Id="rId10" Type="http://schemas.openxmlformats.org/officeDocument/2006/relationships/image" Target="../media/image4.png"/><Relationship Id="rId4" Type="http://schemas.openxmlformats.org/officeDocument/2006/relationships/image" Target="../media/image12.png"/><Relationship Id="rId9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11" Type="http://schemas.openxmlformats.org/officeDocument/2006/relationships/image" Target="../media/image22.png"/><Relationship Id="rId5" Type="http://schemas.openxmlformats.org/officeDocument/2006/relationships/image" Target="../media/image16.png"/><Relationship Id="rId10" Type="http://schemas.openxmlformats.org/officeDocument/2006/relationships/image" Target="../media/image21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6" Type="http://schemas.openxmlformats.org/officeDocument/2006/relationships/image" Target="../media/image23.png"/><Relationship Id="rId5" Type="http://schemas.openxmlformats.org/officeDocument/2006/relationships/image" Target="../media/image14.png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microsoft.com/office/2007/relationships/media" Target="../media/media4.mp4"/><Relationship Id="rId7" Type="http://schemas.openxmlformats.org/officeDocument/2006/relationships/image" Target="../media/image24.jpeg"/><Relationship Id="rId2" Type="http://schemas.openxmlformats.org/officeDocument/2006/relationships/video" Target="../media/media3.mp4"/><Relationship Id="rId1" Type="http://schemas.microsoft.com/office/2007/relationships/media" Target="../media/media3.mp4"/><Relationship Id="rId6" Type="http://schemas.openxmlformats.org/officeDocument/2006/relationships/notesSlide" Target="../notesSlides/notesSlide8.xml"/><Relationship Id="rId5" Type="http://schemas.openxmlformats.org/officeDocument/2006/relationships/slideLayout" Target="../slideLayouts/slideLayout1.xml"/><Relationship Id="rId4" Type="http://schemas.openxmlformats.org/officeDocument/2006/relationships/video" Target="../media/media4.mp4"/><Relationship Id="rId9" Type="http://schemas.openxmlformats.org/officeDocument/2006/relationships/image" Target="../media/image3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24.jpe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5.mp4"/><Relationship Id="rId1" Type="http://schemas.microsoft.com/office/2007/relationships/media" Target="../media/media5.mp4"/><Relationship Id="rId6" Type="http://schemas.openxmlformats.org/officeDocument/2006/relationships/image" Target="../media/image36.png"/><Relationship Id="rId5" Type="http://schemas.openxmlformats.org/officeDocument/2006/relationships/image" Target="../media/image24.jpeg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7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8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14.png"/><Relationship Id="rId7" Type="http://schemas.openxmlformats.org/officeDocument/2006/relationships/image" Target="../media/image4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1.png"/><Relationship Id="rId11" Type="http://schemas.openxmlformats.org/officeDocument/2006/relationships/image" Target="../media/image46.jpg"/><Relationship Id="rId5" Type="http://schemas.openxmlformats.org/officeDocument/2006/relationships/image" Target="../media/image40.png"/><Relationship Id="rId10" Type="http://schemas.openxmlformats.org/officeDocument/2006/relationships/image" Target="../media/image45.png"/><Relationship Id="rId4" Type="http://schemas.openxmlformats.org/officeDocument/2006/relationships/image" Target="../media/image39.png"/><Relationship Id="rId9" Type="http://schemas.openxmlformats.org/officeDocument/2006/relationships/image" Target="../media/image44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3" Type="http://schemas.openxmlformats.org/officeDocument/2006/relationships/image" Target="../media/image24.jpeg"/><Relationship Id="rId7" Type="http://schemas.openxmlformats.org/officeDocument/2006/relationships/image" Target="../media/image50.png"/><Relationship Id="rId12" Type="http://schemas.openxmlformats.org/officeDocument/2006/relationships/image" Target="../media/image5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9.png"/><Relationship Id="rId11" Type="http://schemas.openxmlformats.org/officeDocument/2006/relationships/image" Target="../media/image54.png"/><Relationship Id="rId5" Type="http://schemas.openxmlformats.org/officeDocument/2006/relationships/image" Target="../media/image48.png"/><Relationship Id="rId10" Type="http://schemas.openxmlformats.org/officeDocument/2006/relationships/image" Target="../media/image53.png"/><Relationship Id="rId4" Type="http://schemas.openxmlformats.org/officeDocument/2006/relationships/image" Target="../media/image47.png"/><Relationship Id="rId9" Type="http://schemas.openxmlformats.org/officeDocument/2006/relationships/image" Target="../media/image52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png"/><Relationship Id="rId13" Type="http://schemas.openxmlformats.org/officeDocument/2006/relationships/image" Target="../media/image66.png"/><Relationship Id="rId3" Type="http://schemas.openxmlformats.org/officeDocument/2006/relationships/image" Target="../media/image56.png"/><Relationship Id="rId7" Type="http://schemas.openxmlformats.org/officeDocument/2006/relationships/image" Target="../media/image60.png"/><Relationship Id="rId12" Type="http://schemas.openxmlformats.org/officeDocument/2006/relationships/image" Target="../media/image6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9.png"/><Relationship Id="rId11" Type="http://schemas.openxmlformats.org/officeDocument/2006/relationships/image" Target="../media/image64.png"/><Relationship Id="rId5" Type="http://schemas.openxmlformats.org/officeDocument/2006/relationships/image" Target="../media/image58.png"/><Relationship Id="rId10" Type="http://schemas.openxmlformats.org/officeDocument/2006/relationships/image" Target="../media/image63.png"/><Relationship Id="rId4" Type="http://schemas.openxmlformats.org/officeDocument/2006/relationships/image" Target="../media/image57.png"/><Relationship Id="rId9" Type="http://schemas.openxmlformats.org/officeDocument/2006/relationships/image" Target="../media/image62.png"/><Relationship Id="rId14" Type="http://schemas.openxmlformats.org/officeDocument/2006/relationships/image" Target="../media/image67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14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3">
            <a:alphaModFix amt="20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33000"/>
                    </a14:imgEffect>
                  </a14:imgLayer>
                </a14:imgProps>
              </a:ext>
            </a:extLst>
          </a:blip>
          <a:srcRect l="389" r="389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2027225" y="1944929"/>
            <a:ext cx="1800454" cy="8293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500" b="1" dirty="0">
                <a:solidFill>
                  <a:srgbClr val="8B5CF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Path</a:t>
            </a:r>
            <a:endParaRPr lang="en-US" sz="4500" dirty="0"/>
          </a:p>
        </p:txBody>
      </p:sp>
      <p:sp>
        <p:nvSpPr>
          <p:cNvPr id="20" name="Text 14"/>
          <p:cNvSpPr txBox="1"/>
          <p:nvPr/>
        </p:nvSpPr>
        <p:spPr>
          <a:xfrm>
            <a:off x="3393338" y="1944929"/>
            <a:ext cx="2248510" cy="8293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500" b="1" dirty="0">
                <a:solidFill>
                  <a:srgbClr val="60A5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Guard</a:t>
            </a:r>
            <a:endParaRPr lang="en-US" sz="4500" dirty="0"/>
          </a:p>
        </p:txBody>
      </p:sp>
      <p:sp>
        <p:nvSpPr>
          <p:cNvPr id="21" name="Text 15"/>
          <p:cNvSpPr txBox="1"/>
          <p:nvPr/>
        </p:nvSpPr>
        <p:spPr>
          <a:xfrm>
            <a:off x="5210251" y="1944929"/>
            <a:ext cx="648310" cy="8293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:</a:t>
            </a:r>
            <a:endParaRPr lang="en-US" sz="4500" dirty="0"/>
          </a:p>
        </p:txBody>
      </p:sp>
      <p:sp>
        <p:nvSpPr>
          <p:cNvPr id="22" name="Text 16"/>
          <p:cNvSpPr txBox="1"/>
          <p:nvPr/>
        </p:nvSpPr>
        <p:spPr>
          <a:xfrm>
            <a:off x="5421478" y="1944929"/>
            <a:ext cx="5172761" cy="8293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See The Unseen</a:t>
            </a:r>
            <a:endParaRPr lang="en-US" sz="4500" dirty="0"/>
          </a:p>
        </p:txBody>
      </p:sp>
      <p:sp>
        <p:nvSpPr>
          <p:cNvPr id="23" name="Text 17"/>
          <p:cNvSpPr txBox="1"/>
          <p:nvPr/>
        </p:nvSpPr>
        <p:spPr>
          <a:xfrm>
            <a:off x="3713378" y="2878531"/>
            <a:ext cx="4944161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DBEA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HoloLens, P2P, AI가 융합된 AR 드라이빙 솔루션</a:t>
            </a:r>
            <a:endParaRPr lang="en-US" sz="1800" dirty="0"/>
          </a:p>
        </p:txBody>
      </p:sp>
      <p:sp>
        <p:nvSpPr>
          <p:cNvPr id="24" name="Shape 18"/>
          <p:cNvSpPr/>
          <p:nvPr/>
        </p:nvSpPr>
        <p:spPr>
          <a:xfrm>
            <a:off x="3636569" y="3678631"/>
            <a:ext cx="1952244" cy="381305"/>
          </a:xfrm>
          <a:prstGeom prst="roundRect">
            <a:avLst>
              <a:gd name="adj" fmla="val 119904"/>
            </a:avLst>
          </a:prstGeom>
          <a:solidFill>
            <a:srgbClr val="0A0A14">
              <a:alpha val="60000"/>
            </a:srgbClr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3798418" y="3810305"/>
            <a:ext cx="133502" cy="133502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4007815" y="3764585"/>
            <a:ext cx="152247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78B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Object Recognition</a:t>
            </a:r>
            <a:endParaRPr lang="en-US" sz="1000" dirty="0"/>
          </a:p>
        </p:txBody>
      </p:sp>
      <p:sp>
        <p:nvSpPr>
          <p:cNvPr id="27" name="Shape 20"/>
          <p:cNvSpPr/>
          <p:nvPr/>
        </p:nvSpPr>
        <p:spPr>
          <a:xfrm>
            <a:off x="5702198" y="3678631"/>
            <a:ext cx="1362456" cy="381305"/>
          </a:xfrm>
          <a:prstGeom prst="roundRect">
            <a:avLst>
              <a:gd name="adj" fmla="val 119904"/>
            </a:avLst>
          </a:prstGeom>
          <a:solidFill>
            <a:srgbClr val="0A0A14">
              <a:alpha val="60000"/>
            </a:srgbClr>
          </a:solidFill>
          <a:ln w="1270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6"/>
          <a:srcRect l="-1507" r="-1507"/>
          <a:stretch/>
        </p:blipFill>
        <p:spPr>
          <a:xfrm>
            <a:off x="5864962" y="3810305"/>
            <a:ext cx="171907" cy="133502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6065215" y="3764585"/>
            <a:ext cx="89428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0A5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P2P</a:t>
            </a:r>
            <a:r>
              <a:rPr lang="ko-KR" altLang="en-US" sz="1000" dirty="0">
                <a:solidFill>
                  <a:srgbClr val="60A5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000" dirty="0">
                <a:solidFill>
                  <a:srgbClr val="60A5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Sharing</a:t>
            </a:r>
            <a:endParaRPr lang="en-US" sz="1000" dirty="0"/>
          </a:p>
        </p:txBody>
      </p:sp>
      <p:sp>
        <p:nvSpPr>
          <p:cNvPr id="30" name="Shape 22"/>
          <p:cNvSpPr/>
          <p:nvPr/>
        </p:nvSpPr>
        <p:spPr>
          <a:xfrm>
            <a:off x="7175297" y="3678631"/>
            <a:ext cx="1380744" cy="381305"/>
          </a:xfrm>
          <a:prstGeom prst="roundRect">
            <a:avLst>
              <a:gd name="adj" fmla="val 119904"/>
            </a:avLst>
          </a:prstGeom>
          <a:solidFill>
            <a:srgbClr val="0A0A14">
              <a:alpha val="60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1" name="Image 6" descr="preencoded.png"/>
          <p:cNvPicPr>
            <a:picLocks noChangeAspect="1"/>
          </p:cNvPicPr>
          <p:nvPr/>
        </p:nvPicPr>
        <p:blipFill>
          <a:blip r:embed="rId7"/>
          <a:srcRect l="-837" r="-837"/>
          <a:stretch/>
        </p:blipFill>
        <p:spPr>
          <a:xfrm>
            <a:off x="7337146" y="3810305"/>
            <a:ext cx="152705" cy="133502"/>
          </a:xfrm>
          <a:prstGeom prst="rect">
            <a:avLst/>
          </a:prstGeom>
        </p:spPr>
      </p:pic>
      <p:sp>
        <p:nvSpPr>
          <p:cNvPr id="32" name="Text 23"/>
          <p:cNvSpPr txBox="1"/>
          <p:nvPr/>
        </p:nvSpPr>
        <p:spPr>
          <a:xfrm>
            <a:off x="7565746" y="3764585"/>
            <a:ext cx="93177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HoloLens AR</a:t>
            </a:r>
            <a:endParaRPr lang="en-US" sz="1000" dirty="0"/>
          </a:p>
        </p:txBody>
      </p:sp>
      <p:sp>
        <p:nvSpPr>
          <p:cNvPr id="33" name="Text 24"/>
          <p:cNvSpPr txBox="1"/>
          <p:nvPr/>
        </p:nvSpPr>
        <p:spPr>
          <a:xfrm>
            <a:off x="4729276" y="4840376"/>
            <a:ext cx="2671877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 err="1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AiR</a:t>
            </a:r>
            <a:endParaRPr lang="en-US" sz="2400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14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5">
            <a:alphaModFix amt="30000"/>
          </a:blip>
          <a:srcRect l="389" r="389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267005"/>
            <a:ext cx="1034186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당신의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1895551" y="267005"/>
            <a:ext cx="1757477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는 모든 것을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1313078" y="267005"/>
            <a:ext cx="767182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시야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3369564" y="267005"/>
            <a:ext cx="1938528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chemeClr val="bg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보지 못합니다</a:t>
            </a:r>
            <a:endParaRPr lang="en-US" sz="2200" dirty="0">
              <a:solidFill>
                <a:schemeClr val="bg1"/>
              </a:solidFill>
            </a:endParaRPr>
          </a:p>
        </p:txBody>
      </p:sp>
      <p:sp>
        <p:nvSpPr>
          <p:cNvPr id="8" name="Text 5"/>
          <p:cNvSpPr txBox="1"/>
          <p:nvPr/>
        </p:nvSpPr>
        <p:spPr>
          <a:xfrm>
            <a:off x="457200" y="657454"/>
            <a:ext cx="3633826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A5B4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치명적인 사고는 '보이지 않는 곳'에서 발생합니다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6139317" y="2081632"/>
            <a:ext cx="5212162" cy="705002"/>
          </a:xfrm>
          <a:prstGeom prst="roundRect">
            <a:avLst>
              <a:gd name="adj" fmla="val 17527"/>
            </a:avLst>
          </a:prstGeom>
          <a:solidFill>
            <a:srgbClr val="0F0F1E">
              <a:alpha val="70000"/>
            </a:srgbClr>
          </a:solidFill>
          <a:ln/>
          <a:effectLst>
            <a:outerShdw blurRad="139700" dist="12700" dir="16200000" algn="bl" rotWithShape="0">
              <a:srgbClr val="EF4444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8"/>
          <p:cNvSpPr/>
          <p:nvPr/>
        </p:nvSpPr>
        <p:spPr>
          <a:xfrm>
            <a:off x="6139316" y="2081632"/>
            <a:ext cx="38405" cy="705002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9"/>
          <p:cNvSpPr/>
          <p:nvPr/>
        </p:nvSpPr>
        <p:spPr>
          <a:xfrm>
            <a:off x="6292021" y="2195932"/>
            <a:ext cx="476402" cy="476402"/>
          </a:xfrm>
          <a:prstGeom prst="ellipse">
            <a:avLst/>
          </a:prstGeom>
          <a:solidFill>
            <a:srgbClr val="7F1D1D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6"/>
          <a:srcRect l="-80" r="-80"/>
          <a:stretch/>
        </p:blipFill>
        <p:spPr>
          <a:xfrm>
            <a:off x="6387119" y="2319376"/>
            <a:ext cx="286207" cy="22860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6920214" y="2176729"/>
            <a:ext cx="2376526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8717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전방 대형 트럭에 가려진 급제동</a:t>
            </a:r>
            <a:endParaRPr lang="en-US" sz="1300" dirty="0"/>
          </a:p>
        </p:txBody>
      </p:sp>
      <p:sp>
        <p:nvSpPr>
          <p:cNvPr id="16" name="Text 11"/>
          <p:cNvSpPr txBox="1"/>
          <p:nvPr/>
        </p:nvSpPr>
        <p:spPr>
          <a:xfrm>
            <a:off x="6920214" y="2456536"/>
            <a:ext cx="360822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1D5DB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트럭에 가려진 앞차의 급제동을 감지할 수 없어 충돌 위험 증가</a:t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6139317" y="2938424"/>
            <a:ext cx="5212162" cy="705002"/>
          </a:xfrm>
          <a:prstGeom prst="roundRect">
            <a:avLst>
              <a:gd name="adj" fmla="val 17527"/>
            </a:avLst>
          </a:prstGeom>
          <a:solidFill>
            <a:srgbClr val="0F0F1E">
              <a:alpha val="70000"/>
            </a:srgbClr>
          </a:solidFill>
          <a:ln/>
          <a:effectLst>
            <a:outerShdw blurRad="139700" dist="12700" dir="16200000" algn="bl" rotWithShape="0">
              <a:srgbClr val="3B82F6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3"/>
          <p:cNvSpPr/>
          <p:nvPr/>
        </p:nvSpPr>
        <p:spPr>
          <a:xfrm>
            <a:off x="6139316" y="2938424"/>
            <a:ext cx="38405" cy="705002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4"/>
          <p:cNvSpPr/>
          <p:nvPr/>
        </p:nvSpPr>
        <p:spPr>
          <a:xfrm>
            <a:off x="6292021" y="3052724"/>
            <a:ext cx="476402" cy="476402"/>
          </a:xfrm>
          <a:prstGeom prst="ellipse">
            <a:avLst/>
          </a:prstGeom>
          <a:solidFill>
            <a:srgbClr val="1E3A8A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7"/>
          <a:srcRect t="-80" b="-80"/>
          <a:stretch/>
        </p:blipFill>
        <p:spPr>
          <a:xfrm>
            <a:off x="6458442" y="3177083"/>
            <a:ext cx="142646" cy="22860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6920214" y="3033522"/>
            <a:ext cx="165323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60A5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사각지대 보행자 출현</a:t>
            </a:r>
            <a:endParaRPr lang="en-US" sz="1300" dirty="0"/>
          </a:p>
        </p:txBody>
      </p:sp>
      <p:sp>
        <p:nvSpPr>
          <p:cNvPr id="22" name="Text 16"/>
          <p:cNvSpPr txBox="1"/>
          <p:nvPr/>
        </p:nvSpPr>
        <p:spPr>
          <a:xfrm>
            <a:off x="6920214" y="3314243"/>
            <a:ext cx="357073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dirty="0">
                <a:solidFill>
                  <a:srgbClr val="D1D5DB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사각지대</a:t>
            </a:r>
            <a:r>
              <a:rPr lang="en-US" sz="1000" dirty="0">
                <a:solidFill>
                  <a:srgbClr val="D1D5DB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에 가려진 보행자가 갑자기 나타나 반응 시간 부족</a:t>
            </a:r>
            <a:endParaRPr lang="en-US" sz="1000" dirty="0"/>
          </a:p>
        </p:txBody>
      </p:sp>
      <p:sp>
        <p:nvSpPr>
          <p:cNvPr id="23" name="Shape 17"/>
          <p:cNvSpPr/>
          <p:nvPr/>
        </p:nvSpPr>
        <p:spPr>
          <a:xfrm>
            <a:off x="6139317" y="3796132"/>
            <a:ext cx="5212162" cy="705002"/>
          </a:xfrm>
          <a:prstGeom prst="roundRect">
            <a:avLst>
              <a:gd name="adj" fmla="val 17527"/>
            </a:avLst>
          </a:prstGeom>
          <a:solidFill>
            <a:srgbClr val="0F0F1E">
              <a:alpha val="70000"/>
            </a:srgbClr>
          </a:solidFill>
          <a:ln/>
          <a:effectLst>
            <a:outerShdw blurRad="139700" dist="12700" dir="16200000" algn="bl" rotWithShape="0">
              <a:srgbClr val="8B5CF6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18"/>
          <p:cNvSpPr/>
          <p:nvPr/>
        </p:nvSpPr>
        <p:spPr>
          <a:xfrm>
            <a:off x="6139316" y="3796132"/>
            <a:ext cx="38405" cy="705002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19"/>
          <p:cNvSpPr/>
          <p:nvPr/>
        </p:nvSpPr>
        <p:spPr>
          <a:xfrm>
            <a:off x="6292021" y="3910432"/>
            <a:ext cx="476402" cy="476402"/>
          </a:xfrm>
          <a:prstGeom prst="ellipse">
            <a:avLst/>
          </a:prstGeom>
          <a:solidFill>
            <a:srgbClr val="4C1D95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8"/>
          <a:srcRect l="-80" r="-80"/>
          <a:stretch/>
        </p:blipFill>
        <p:spPr>
          <a:xfrm>
            <a:off x="6387119" y="4033876"/>
            <a:ext cx="286207" cy="228600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6920214" y="3891229"/>
            <a:ext cx="165323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A78B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측후방 이륜차 미인지</a:t>
            </a:r>
            <a:endParaRPr lang="en-US" sz="1300" dirty="0"/>
          </a:p>
        </p:txBody>
      </p:sp>
      <p:sp>
        <p:nvSpPr>
          <p:cNvPr id="28" name="Text 21"/>
          <p:cNvSpPr txBox="1"/>
          <p:nvPr/>
        </p:nvSpPr>
        <p:spPr>
          <a:xfrm>
            <a:off x="6920214" y="4171036"/>
            <a:ext cx="343723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1D5DB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차선 변경 시 후사경 사각지대에 있는 이륜차와의 충돌 위험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517093" y="5677510"/>
            <a:ext cx="11277295" cy="485546"/>
          </a:xfrm>
          <a:prstGeom prst="roundRect">
            <a:avLst>
              <a:gd name="adj" fmla="val 22156"/>
            </a:avLst>
          </a:prstGeom>
          <a:solidFill>
            <a:srgbClr val="7C3AED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3"/>
          <p:cNvSpPr/>
          <p:nvPr/>
        </p:nvSpPr>
        <p:spPr>
          <a:xfrm>
            <a:off x="517093" y="5677510"/>
            <a:ext cx="28346" cy="485546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9"/>
          <a:srcRect t="-1310" b="-1310"/>
          <a:stretch/>
        </p:blipFill>
        <p:spPr>
          <a:xfrm>
            <a:off x="3172511" y="5832044"/>
            <a:ext cx="209398" cy="171907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3534613" y="5791810"/>
            <a:ext cx="497434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현실:</a:t>
            </a:r>
            <a:endParaRPr lang="en-US" sz="1300" dirty="0"/>
          </a:p>
        </p:txBody>
      </p:sp>
      <p:sp>
        <p:nvSpPr>
          <p:cNvPr id="33" name="Text 25"/>
          <p:cNvSpPr txBox="1"/>
          <p:nvPr/>
        </p:nvSpPr>
        <p:spPr>
          <a:xfrm>
            <a:off x="3897630" y="5791810"/>
            <a:ext cx="592531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인간의</a:t>
            </a:r>
            <a:endParaRPr lang="en-US" sz="1300" dirty="0"/>
          </a:p>
        </p:txBody>
      </p:sp>
      <p:sp>
        <p:nvSpPr>
          <p:cNvPr id="34" name="Text 26"/>
          <p:cNvSpPr txBox="1"/>
          <p:nvPr/>
        </p:nvSpPr>
        <p:spPr>
          <a:xfrm>
            <a:off x="5609387" y="5791810"/>
            <a:ext cx="1812341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로는 이러한 위험 상황을</a:t>
            </a:r>
            <a:endParaRPr lang="en-US" sz="1300" dirty="0"/>
          </a:p>
        </p:txBody>
      </p:sp>
      <p:sp>
        <p:nvSpPr>
          <p:cNvPr id="35" name="Text 27"/>
          <p:cNvSpPr txBox="1"/>
          <p:nvPr/>
        </p:nvSpPr>
        <p:spPr>
          <a:xfrm>
            <a:off x="4398721" y="5791810"/>
            <a:ext cx="1307592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8717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물리적 시야 한계</a:t>
            </a:r>
            <a:endParaRPr lang="en-US" sz="1300" dirty="0"/>
          </a:p>
        </p:txBody>
      </p:sp>
      <p:sp>
        <p:nvSpPr>
          <p:cNvPr id="36" name="Text 28"/>
          <p:cNvSpPr txBox="1"/>
          <p:nvPr/>
        </p:nvSpPr>
        <p:spPr>
          <a:xfrm>
            <a:off x="7330287" y="5791810"/>
            <a:ext cx="1964131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0A5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사전에 감지할 수 없습니다</a:t>
            </a:r>
            <a:endParaRPr lang="en-US" sz="1300" dirty="0"/>
          </a:p>
        </p:txBody>
      </p:sp>
      <p:pic>
        <p:nvPicPr>
          <p:cNvPr id="42" name="문제인식 영상">
            <a:hlinkClick r:id="" action="ppaction://media"/>
            <a:extLst>
              <a:ext uri="{FF2B5EF4-FFF2-40B4-BE49-F238E27FC236}">
                <a16:creationId xmlns:a16="http://schemas.microsoft.com/office/drawing/2014/main" id="{3FAF51E8-EA68-C48C-E14C-1EFA74724A72}"/>
              </a:ext>
            </a:extLst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>
                  <p14:trim end="1257.3125"/>
                </p14:media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841401" y="1268655"/>
            <a:ext cx="4457700" cy="40957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308" fill="hold"/>
                                        <p:tgtEl>
                                          <p:spTgt spid="4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4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2"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14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30000"/>
          </a:blip>
          <a:srcRect l="389" r="389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848917" y="1324280"/>
            <a:ext cx="3333902" cy="1381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0" b="1" dirty="0">
                <a:solidFill>
                  <a:srgbClr val="A855F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543건</a:t>
            </a:r>
            <a:endParaRPr lang="en-US" sz="7500" dirty="0"/>
          </a:p>
        </p:txBody>
      </p:sp>
      <p:sp>
        <p:nvSpPr>
          <p:cNvPr id="6" name="Text 3"/>
          <p:cNvSpPr txBox="1"/>
          <p:nvPr/>
        </p:nvSpPr>
        <p:spPr>
          <a:xfrm>
            <a:off x="1554480" y="2572436"/>
            <a:ext cx="3381451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8B4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1일 평균 교통사고 (2024년 기준)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973836" y="3068041"/>
            <a:ext cx="4371746" cy="485546"/>
          </a:xfrm>
          <a:prstGeom prst="roundRect">
            <a:avLst>
              <a:gd name="adj" fmla="val 29541"/>
            </a:avLst>
          </a:prstGeom>
          <a:solidFill>
            <a:srgbClr val="7C3AED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/>
          <p:cNvSpPr txBox="1"/>
          <p:nvPr/>
        </p:nvSpPr>
        <p:spPr>
          <a:xfrm>
            <a:off x="1088136" y="3182341"/>
            <a:ext cx="4269334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4B5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2분 40초마다 </a:t>
            </a:r>
            <a:r>
              <a:rPr lang="en-US" sz="1300" dirty="0" err="1">
                <a:solidFill>
                  <a:srgbClr val="C4B5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사고</a:t>
            </a:r>
            <a:r>
              <a:rPr lang="en-US" sz="1300" dirty="0">
                <a:solidFill>
                  <a:srgbClr val="C4B5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300" dirty="0" err="1">
                <a:solidFill>
                  <a:srgbClr val="C4B5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발생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7790688" y="800100"/>
            <a:ext cx="2467051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8B4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연간 교통사고 발생 현황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6099048" y="2152498"/>
            <a:ext cx="6199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2022년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6099048" y="2762402"/>
            <a:ext cx="6199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2023년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6099048" y="3372307"/>
            <a:ext cx="6199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2024년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6833161" y="2076602"/>
            <a:ext cx="3424577" cy="381305"/>
          </a:xfrm>
          <a:prstGeom prst="roundRect">
            <a:avLst>
              <a:gd name="adj" fmla="val 35971"/>
            </a:avLst>
          </a:prstGeom>
          <a:solidFill>
            <a:srgbClr val="38BDF8">
              <a:alpha val="60000"/>
            </a:srgbClr>
          </a:solidFill>
          <a:ln w="12700">
            <a:solidFill>
              <a:srgbClr val="38BDF8"/>
            </a:solidFill>
            <a:prstDash val="solid"/>
          </a:ln>
          <a:effectLst>
            <a:outerShdw blurRad="139700" dist="12700" dir="16200000" algn="bl" rotWithShape="0">
              <a:srgbClr val="8B5CF6">
                <a:alpha val="40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17" name="Text 14"/>
          <p:cNvSpPr txBox="1"/>
          <p:nvPr/>
        </p:nvSpPr>
        <p:spPr>
          <a:xfrm>
            <a:off x="9409176" y="2169871"/>
            <a:ext cx="8485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196,836건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6853425" y="2686507"/>
            <a:ext cx="4269335" cy="381305"/>
          </a:xfrm>
          <a:prstGeom prst="roundRect">
            <a:avLst>
              <a:gd name="adj" fmla="val 35971"/>
            </a:avLst>
          </a:prstGeom>
          <a:solidFill>
            <a:srgbClr val="4F46E5">
              <a:alpha val="60000"/>
            </a:srgbClr>
          </a:solidFill>
          <a:ln w="12700">
            <a:solidFill>
              <a:srgbClr val="4F46E5"/>
            </a:solidFill>
            <a:prstDash val="solid"/>
          </a:ln>
          <a:effectLst>
            <a:outerShdw blurRad="139700" dist="12700" dir="16200000" algn="bl" rotWithShape="0">
              <a:srgbClr val="8B5CF6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6"/>
          <p:cNvSpPr txBox="1"/>
          <p:nvPr/>
        </p:nvSpPr>
        <p:spPr>
          <a:xfrm>
            <a:off x="10274198" y="2778978"/>
            <a:ext cx="8485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198,296건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6853242" y="3295498"/>
            <a:ext cx="4866739" cy="381305"/>
          </a:xfrm>
          <a:prstGeom prst="roundRect">
            <a:avLst>
              <a:gd name="adj" fmla="val 35971"/>
            </a:avLst>
          </a:prstGeom>
          <a:solidFill>
            <a:srgbClr val="8B5CF6">
              <a:alpha val="60000"/>
            </a:srgbClr>
          </a:solidFill>
          <a:ln w="12700">
            <a:solidFill>
              <a:srgbClr val="8B5CF6"/>
            </a:solidFill>
            <a:prstDash val="solid"/>
          </a:ln>
          <a:effectLst>
            <a:outerShdw blurRad="139700" dist="12700" dir="16200000" algn="bl" rotWithShape="0">
              <a:srgbClr val="8B5CF6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8"/>
          <p:cNvSpPr txBox="1"/>
          <p:nvPr/>
        </p:nvSpPr>
        <p:spPr>
          <a:xfrm>
            <a:off x="10885932" y="3372307"/>
            <a:ext cx="8485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198,720건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461119" y="4877867"/>
            <a:ext cx="11277295" cy="562356"/>
          </a:xfrm>
          <a:prstGeom prst="roundRect">
            <a:avLst>
              <a:gd name="adj" fmla="val 16536"/>
            </a:avLst>
          </a:prstGeom>
          <a:solidFill>
            <a:srgbClr val="7C3AED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0"/>
          <p:cNvSpPr/>
          <p:nvPr/>
        </p:nvSpPr>
        <p:spPr>
          <a:xfrm>
            <a:off x="461119" y="4877867"/>
            <a:ext cx="38405" cy="562356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1"/>
          <p:cNvSpPr txBox="1"/>
          <p:nvPr/>
        </p:nvSpPr>
        <p:spPr>
          <a:xfrm>
            <a:off x="804019" y="5030571"/>
            <a:ext cx="7803490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3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 </a:t>
            </a:r>
            <a:r>
              <a:rPr lang="en-US" altLang="ko-KR" sz="13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</a:t>
            </a:r>
            <a:r>
              <a:rPr lang="ko-KR" altLang="en-US" sz="13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만 건의 사고</a:t>
            </a:r>
            <a:r>
              <a:rPr lang="en-US" altLang="ko-KR" sz="13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 </a:t>
            </a:r>
            <a:r>
              <a:rPr lang="en-US" altLang="ko-KR" sz="1300" dirty="0" err="1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PathGuard</a:t>
            </a:r>
            <a:r>
              <a:rPr lang="ko-KR" altLang="en-US" sz="13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는 이 숫자 속에 숨은 보이지 않는 위험을 </a:t>
            </a:r>
            <a:r>
              <a:rPr lang="ko-KR" altLang="en-US" sz="1300" dirty="0" err="1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정조준합니다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3E657E-3E8C-18F9-89C5-3F09C65880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ABD726A0-ED64-0B75-ACB9-A10AC5F06A7F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1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C1A8920F-B815-48C4-A641-00F27CF4ADC9}"/>
              </a:ext>
            </a:extLst>
          </p:cNvPr>
          <p:cNvSpPr/>
          <p:nvPr/>
        </p:nvSpPr>
        <p:spPr>
          <a:xfrm>
            <a:off x="381305" y="571500"/>
            <a:ext cx="2171700" cy="400507"/>
          </a:xfrm>
          <a:prstGeom prst="roundRect">
            <a:avLst>
              <a:gd name="adj" fmla="val 21744"/>
            </a:avLst>
          </a:prstGeom>
          <a:solidFill>
            <a:srgbClr val="0A0A14">
              <a:alpha val="70000"/>
            </a:srgbClr>
          </a:solidFill>
          <a:ln w="12700">
            <a:solidFill>
              <a:srgbClr val="7C3AED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2EE570A1-B615-333C-181F-C5F785EC0446}"/>
              </a:ext>
            </a:extLst>
          </p:cNvPr>
          <p:cNvSpPr/>
          <p:nvPr/>
        </p:nvSpPr>
        <p:spPr>
          <a:xfrm>
            <a:off x="333756" y="523951"/>
            <a:ext cx="2240280" cy="469087"/>
          </a:xfrm>
          <a:prstGeom prst="roundRect">
            <a:avLst>
              <a:gd name="adj" fmla="val 23771"/>
            </a:avLst>
          </a:prstGeom>
          <a:noFill/>
          <a:ln w="12700">
            <a:solidFill>
              <a:srgbClr val="7C3AED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0" descr="preencoded.png">
            <a:extLst>
              <a:ext uri="{FF2B5EF4-FFF2-40B4-BE49-F238E27FC236}">
                <a16:creationId xmlns:a16="http://schemas.microsoft.com/office/drawing/2014/main" id="{08BC8A95-34DB-79BB-6AEE-033CD9EAB46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85546" y="710489"/>
            <a:ext cx="123444" cy="123444"/>
          </a:xfrm>
          <a:prstGeom prst="rect">
            <a:avLst/>
          </a:prstGeom>
        </p:spPr>
      </p:pic>
      <p:sp>
        <p:nvSpPr>
          <p:cNvPr id="6" name="Shape 3">
            <a:extLst>
              <a:ext uri="{FF2B5EF4-FFF2-40B4-BE49-F238E27FC236}">
                <a16:creationId xmlns:a16="http://schemas.microsoft.com/office/drawing/2014/main" id="{A5A26C64-C400-4AA5-B7B4-659A999713A1}"/>
              </a:ext>
            </a:extLst>
          </p:cNvPr>
          <p:cNvSpPr/>
          <p:nvPr/>
        </p:nvSpPr>
        <p:spPr>
          <a:xfrm>
            <a:off x="381305" y="5894222"/>
            <a:ext cx="1371600" cy="400507"/>
          </a:xfrm>
          <a:prstGeom prst="roundRect">
            <a:avLst>
              <a:gd name="adj" fmla="val 21744"/>
            </a:avLst>
          </a:prstGeom>
          <a:solidFill>
            <a:srgbClr val="0A0A14">
              <a:alpha val="70000"/>
            </a:srgbClr>
          </a:solidFill>
          <a:ln w="12700">
            <a:solidFill>
              <a:srgbClr val="7C3AED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50F2B714-7AB8-3475-998C-A0EC3A530AB5}"/>
              </a:ext>
            </a:extLst>
          </p:cNvPr>
          <p:cNvSpPr/>
          <p:nvPr/>
        </p:nvSpPr>
        <p:spPr>
          <a:xfrm>
            <a:off x="9918497" y="5894222"/>
            <a:ext cx="1895551" cy="400507"/>
          </a:xfrm>
          <a:prstGeom prst="roundRect">
            <a:avLst>
              <a:gd name="adj" fmla="val 21744"/>
            </a:avLst>
          </a:prstGeom>
          <a:solidFill>
            <a:srgbClr val="0A0A14">
              <a:alpha val="70000"/>
            </a:srgbClr>
          </a:solidFill>
          <a:ln w="12700">
            <a:solidFill>
              <a:srgbClr val="7C3AED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27976BC2-7966-66AE-5E80-72175FCEB530}"/>
              </a:ext>
            </a:extLst>
          </p:cNvPr>
          <p:cNvSpPr txBox="1"/>
          <p:nvPr/>
        </p:nvSpPr>
        <p:spPr>
          <a:xfrm>
            <a:off x="647395" y="676656"/>
            <a:ext cx="189189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5B4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PathGuard Omniscient Eye v1.0</a:t>
            </a:r>
            <a:endParaRPr lang="en-US" sz="900" dirty="0"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B9888CB5-CDF0-18DE-6018-3C8D782E9193}"/>
              </a:ext>
            </a:extLst>
          </p:cNvPr>
          <p:cNvSpPr/>
          <p:nvPr/>
        </p:nvSpPr>
        <p:spPr>
          <a:xfrm>
            <a:off x="333756" y="5846674"/>
            <a:ext cx="1442009" cy="469087"/>
          </a:xfrm>
          <a:prstGeom prst="roundRect">
            <a:avLst>
              <a:gd name="adj" fmla="val 23771"/>
            </a:avLst>
          </a:prstGeom>
          <a:noFill/>
          <a:ln w="12700">
            <a:solidFill>
              <a:srgbClr val="7C3AED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1" descr="preencoded.png">
            <a:extLst>
              <a:ext uri="{FF2B5EF4-FFF2-40B4-BE49-F238E27FC236}">
                <a16:creationId xmlns:a16="http://schemas.microsoft.com/office/drawing/2014/main" id="{6D1399F0-3FDA-D98C-D7BF-796E25B07E0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2012" b="-2012"/>
          <a:stretch/>
        </p:blipFill>
        <p:spPr>
          <a:xfrm>
            <a:off x="485546" y="6033211"/>
            <a:ext cx="133502" cy="123444"/>
          </a:xfrm>
          <a:prstGeom prst="rect">
            <a:avLst/>
          </a:prstGeom>
        </p:spPr>
      </p:pic>
      <p:sp>
        <p:nvSpPr>
          <p:cNvPr id="11" name="Text 7">
            <a:extLst>
              <a:ext uri="{FF2B5EF4-FFF2-40B4-BE49-F238E27FC236}">
                <a16:creationId xmlns:a16="http://schemas.microsoft.com/office/drawing/2014/main" id="{AA40F9B6-B795-F677-C21C-5D90E14C7ED2}"/>
              </a:ext>
            </a:extLst>
          </p:cNvPr>
          <p:cNvSpPr txBox="1"/>
          <p:nvPr/>
        </p:nvSpPr>
        <p:spPr>
          <a:xfrm>
            <a:off x="657454" y="5998464"/>
            <a:ext cx="108265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5B4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Sentry: ACTIVE</a:t>
            </a:r>
            <a:endParaRPr lang="en-US" sz="900" dirty="0"/>
          </a:p>
        </p:txBody>
      </p:sp>
      <p:sp>
        <p:nvSpPr>
          <p:cNvPr id="12" name="Shape 8">
            <a:extLst>
              <a:ext uri="{FF2B5EF4-FFF2-40B4-BE49-F238E27FC236}">
                <a16:creationId xmlns:a16="http://schemas.microsoft.com/office/drawing/2014/main" id="{3F16602B-CB90-C668-A703-573355710400}"/>
              </a:ext>
            </a:extLst>
          </p:cNvPr>
          <p:cNvSpPr/>
          <p:nvPr/>
        </p:nvSpPr>
        <p:spPr>
          <a:xfrm>
            <a:off x="9870948" y="5846674"/>
            <a:ext cx="1968703" cy="469087"/>
          </a:xfrm>
          <a:prstGeom prst="roundRect">
            <a:avLst>
              <a:gd name="adj" fmla="val 23771"/>
            </a:avLst>
          </a:prstGeom>
          <a:noFill/>
          <a:ln w="12700">
            <a:solidFill>
              <a:srgbClr val="7C3AED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3" name="Image 2" descr="preencoded.png">
            <a:extLst>
              <a:ext uri="{FF2B5EF4-FFF2-40B4-BE49-F238E27FC236}">
                <a16:creationId xmlns:a16="http://schemas.microsoft.com/office/drawing/2014/main" id="{C6E5B102-6289-2099-0471-3B53A93C692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-2012" b="-2012"/>
          <a:stretch/>
        </p:blipFill>
        <p:spPr>
          <a:xfrm>
            <a:off x="10023653" y="6033211"/>
            <a:ext cx="133502" cy="123444"/>
          </a:xfrm>
          <a:prstGeom prst="rect">
            <a:avLst/>
          </a:prstGeom>
        </p:spPr>
      </p:pic>
      <p:sp>
        <p:nvSpPr>
          <p:cNvPr id="14" name="Text 9">
            <a:extLst>
              <a:ext uri="{FF2B5EF4-FFF2-40B4-BE49-F238E27FC236}">
                <a16:creationId xmlns:a16="http://schemas.microsoft.com/office/drawing/2014/main" id="{916637A0-D3F3-51B4-7C59-4C07F5AA38CE}"/>
              </a:ext>
            </a:extLst>
          </p:cNvPr>
          <p:cNvSpPr txBox="1"/>
          <p:nvPr/>
        </p:nvSpPr>
        <p:spPr>
          <a:xfrm>
            <a:off x="10194646" y="5998464"/>
            <a:ext cx="1606601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5B4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V2V Network: CONNECTED</a:t>
            </a:r>
            <a:endParaRPr lang="en-US" sz="900" dirty="0"/>
          </a:p>
        </p:txBody>
      </p:sp>
      <p:sp>
        <p:nvSpPr>
          <p:cNvPr id="15" name="Shape 10">
            <a:extLst>
              <a:ext uri="{FF2B5EF4-FFF2-40B4-BE49-F238E27FC236}">
                <a16:creationId xmlns:a16="http://schemas.microsoft.com/office/drawing/2014/main" id="{F9DDF8B4-0D8A-29CB-0487-6CC0EB932FC5}"/>
              </a:ext>
            </a:extLst>
          </p:cNvPr>
          <p:cNvSpPr/>
          <p:nvPr/>
        </p:nvSpPr>
        <p:spPr>
          <a:xfrm>
            <a:off x="1714500" y="905256"/>
            <a:ext cx="1904695" cy="9144"/>
          </a:xfrm>
          <a:prstGeom prst="rect">
            <a:avLst/>
          </a:prstGeom>
          <a:solidFill>
            <a:srgbClr val="6366F1">
              <a:alpha val="70000"/>
            </a:srgbClr>
          </a:solidFill>
          <a:ln/>
          <a:effectLst>
            <a:outerShdw blurRad="50800" dist="12700" dir="16200000" algn="bl" rotWithShape="0">
              <a:srgbClr val="818CF8">
                <a:alpha val="10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1">
            <a:extLst>
              <a:ext uri="{FF2B5EF4-FFF2-40B4-BE49-F238E27FC236}">
                <a16:creationId xmlns:a16="http://schemas.microsoft.com/office/drawing/2014/main" id="{5865B02E-BB3F-4E75-E72B-7EE8D86C6778}"/>
              </a:ext>
            </a:extLst>
          </p:cNvPr>
          <p:cNvSpPr/>
          <p:nvPr/>
        </p:nvSpPr>
        <p:spPr>
          <a:xfrm>
            <a:off x="1714500" y="5943600"/>
            <a:ext cx="1429207" cy="9144"/>
          </a:xfrm>
          <a:prstGeom prst="rect">
            <a:avLst/>
          </a:prstGeom>
          <a:solidFill>
            <a:srgbClr val="6366F1">
              <a:alpha val="70000"/>
            </a:srgbClr>
          </a:solidFill>
          <a:ln/>
          <a:effectLst>
            <a:outerShdw blurRad="50800" dist="12700" dir="16200000" algn="bl" rotWithShape="0">
              <a:srgbClr val="818CF8">
                <a:alpha val="10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2">
            <a:extLst>
              <a:ext uri="{FF2B5EF4-FFF2-40B4-BE49-F238E27FC236}">
                <a16:creationId xmlns:a16="http://schemas.microsoft.com/office/drawing/2014/main" id="{1FC18F5B-8C71-E45A-E7D2-82A102BF6502}"/>
              </a:ext>
            </a:extLst>
          </p:cNvPr>
          <p:cNvSpPr/>
          <p:nvPr/>
        </p:nvSpPr>
        <p:spPr>
          <a:xfrm>
            <a:off x="9048902" y="5943600"/>
            <a:ext cx="1429207" cy="9144"/>
          </a:xfrm>
          <a:prstGeom prst="rect">
            <a:avLst/>
          </a:prstGeom>
          <a:solidFill>
            <a:srgbClr val="6366F1">
              <a:alpha val="70000"/>
            </a:srgbClr>
          </a:solidFill>
          <a:ln/>
          <a:effectLst>
            <a:outerShdw blurRad="50800" dist="12700" dir="16200000" algn="bl" rotWithShape="0">
              <a:srgbClr val="818CF8">
                <a:alpha val="10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8" name="Image 3" descr="preencoded.png">
            <a:extLst>
              <a:ext uri="{FF2B5EF4-FFF2-40B4-BE49-F238E27FC236}">
                <a16:creationId xmlns:a16="http://schemas.microsoft.com/office/drawing/2014/main" id="{FC636917-3BA3-C0AE-11DF-092347097806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20000"/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aturation sat="33000"/>
                    </a14:imgEffect>
                  </a14:imgLayer>
                </a14:imgProps>
              </a:ext>
            </a:extLst>
          </a:blip>
          <a:srcRect l="389" r="389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19" name="Text 13">
            <a:extLst>
              <a:ext uri="{FF2B5EF4-FFF2-40B4-BE49-F238E27FC236}">
                <a16:creationId xmlns:a16="http://schemas.microsoft.com/office/drawing/2014/main" id="{630DCCDD-337F-FDE8-C356-A9CA7FBB3208}"/>
              </a:ext>
            </a:extLst>
          </p:cNvPr>
          <p:cNvSpPr txBox="1"/>
          <p:nvPr/>
        </p:nvSpPr>
        <p:spPr>
          <a:xfrm>
            <a:off x="4336085" y="2599639"/>
            <a:ext cx="1800454" cy="8293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500" b="1" dirty="0">
                <a:solidFill>
                  <a:srgbClr val="8B5CF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Path</a:t>
            </a:r>
            <a:endParaRPr lang="en-US" sz="4500" dirty="0"/>
          </a:p>
        </p:txBody>
      </p:sp>
      <p:sp>
        <p:nvSpPr>
          <p:cNvPr id="20" name="Text 14">
            <a:extLst>
              <a:ext uri="{FF2B5EF4-FFF2-40B4-BE49-F238E27FC236}">
                <a16:creationId xmlns:a16="http://schemas.microsoft.com/office/drawing/2014/main" id="{A59BC347-F7CF-88CA-7EB5-328AEEAE8941}"/>
              </a:ext>
            </a:extLst>
          </p:cNvPr>
          <p:cNvSpPr txBox="1"/>
          <p:nvPr/>
        </p:nvSpPr>
        <p:spPr>
          <a:xfrm>
            <a:off x="5702198" y="2599639"/>
            <a:ext cx="2248510" cy="8293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500" b="1" dirty="0">
                <a:solidFill>
                  <a:srgbClr val="60A5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Guard</a:t>
            </a:r>
            <a:endParaRPr lang="en-US" sz="4500" dirty="0"/>
          </a:p>
        </p:txBody>
      </p:sp>
      <p:sp>
        <p:nvSpPr>
          <p:cNvPr id="21" name="Text 15">
            <a:extLst>
              <a:ext uri="{FF2B5EF4-FFF2-40B4-BE49-F238E27FC236}">
                <a16:creationId xmlns:a16="http://schemas.microsoft.com/office/drawing/2014/main" id="{03CC9F89-F272-1F6D-8DF6-90A9A429D099}"/>
              </a:ext>
            </a:extLst>
          </p:cNvPr>
          <p:cNvSpPr txBox="1"/>
          <p:nvPr/>
        </p:nvSpPr>
        <p:spPr>
          <a:xfrm>
            <a:off x="7519111" y="2599639"/>
            <a:ext cx="648310" cy="8293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/>
              <a:t>:</a:t>
            </a:r>
            <a:endParaRPr lang="en-US" dirty="0"/>
          </a:p>
        </p:txBody>
      </p:sp>
      <p:sp>
        <p:nvSpPr>
          <p:cNvPr id="24" name="Shape 18">
            <a:extLst>
              <a:ext uri="{FF2B5EF4-FFF2-40B4-BE49-F238E27FC236}">
                <a16:creationId xmlns:a16="http://schemas.microsoft.com/office/drawing/2014/main" id="{78C4F513-0A36-7429-2B0A-BF7279A4011B}"/>
              </a:ext>
            </a:extLst>
          </p:cNvPr>
          <p:cNvSpPr/>
          <p:nvPr/>
        </p:nvSpPr>
        <p:spPr>
          <a:xfrm>
            <a:off x="3636569" y="3678631"/>
            <a:ext cx="1952244" cy="381305"/>
          </a:xfrm>
          <a:prstGeom prst="roundRect">
            <a:avLst>
              <a:gd name="adj" fmla="val 119904"/>
            </a:avLst>
          </a:prstGeom>
          <a:solidFill>
            <a:srgbClr val="0A0A14">
              <a:alpha val="60000"/>
            </a:srgbClr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5" name="Image 4" descr="preencoded.png">
            <a:extLst>
              <a:ext uri="{FF2B5EF4-FFF2-40B4-BE49-F238E27FC236}">
                <a16:creationId xmlns:a16="http://schemas.microsoft.com/office/drawing/2014/main" id="{EACD6154-A612-B0CA-DDFC-C648EF60E5AB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3798418" y="3810305"/>
            <a:ext cx="133502" cy="133502"/>
          </a:xfrm>
          <a:prstGeom prst="rect">
            <a:avLst/>
          </a:prstGeom>
        </p:spPr>
      </p:pic>
      <p:sp>
        <p:nvSpPr>
          <p:cNvPr id="26" name="Text 19">
            <a:extLst>
              <a:ext uri="{FF2B5EF4-FFF2-40B4-BE49-F238E27FC236}">
                <a16:creationId xmlns:a16="http://schemas.microsoft.com/office/drawing/2014/main" id="{74F2F6DA-2AE8-7FD4-EF90-A8AA9766DB32}"/>
              </a:ext>
            </a:extLst>
          </p:cNvPr>
          <p:cNvSpPr txBox="1"/>
          <p:nvPr/>
        </p:nvSpPr>
        <p:spPr>
          <a:xfrm>
            <a:off x="4007815" y="3764585"/>
            <a:ext cx="152247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78B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Object Recognition</a:t>
            </a:r>
            <a:endParaRPr lang="en-US" sz="1000" dirty="0"/>
          </a:p>
        </p:txBody>
      </p:sp>
      <p:sp>
        <p:nvSpPr>
          <p:cNvPr id="27" name="Shape 20">
            <a:extLst>
              <a:ext uri="{FF2B5EF4-FFF2-40B4-BE49-F238E27FC236}">
                <a16:creationId xmlns:a16="http://schemas.microsoft.com/office/drawing/2014/main" id="{122B4014-7674-64B8-6C1D-3C0982D892A1}"/>
              </a:ext>
            </a:extLst>
          </p:cNvPr>
          <p:cNvSpPr/>
          <p:nvPr/>
        </p:nvSpPr>
        <p:spPr>
          <a:xfrm>
            <a:off x="5702198" y="3678631"/>
            <a:ext cx="1362456" cy="381305"/>
          </a:xfrm>
          <a:prstGeom prst="roundRect">
            <a:avLst>
              <a:gd name="adj" fmla="val 119904"/>
            </a:avLst>
          </a:prstGeom>
          <a:solidFill>
            <a:srgbClr val="0A0A14">
              <a:alpha val="60000"/>
            </a:srgbClr>
          </a:solidFill>
          <a:ln w="1270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8" name="Image 5" descr="preencoded.png">
            <a:extLst>
              <a:ext uri="{FF2B5EF4-FFF2-40B4-BE49-F238E27FC236}">
                <a16:creationId xmlns:a16="http://schemas.microsoft.com/office/drawing/2014/main" id="{3463F3A2-DAA6-BE25-DEA3-BF5CC841241B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-1507" r="-1507"/>
          <a:stretch/>
        </p:blipFill>
        <p:spPr>
          <a:xfrm>
            <a:off x="5864962" y="3810305"/>
            <a:ext cx="171907" cy="133502"/>
          </a:xfrm>
          <a:prstGeom prst="rect">
            <a:avLst/>
          </a:prstGeom>
        </p:spPr>
      </p:pic>
      <p:sp>
        <p:nvSpPr>
          <p:cNvPr id="29" name="Text 21">
            <a:extLst>
              <a:ext uri="{FF2B5EF4-FFF2-40B4-BE49-F238E27FC236}">
                <a16:creationId xmlns:a16="http://schemas.microsoft.com/office/drawing/2014/main" id="{F9809320-027B-2D9A-CF90-151574D76738}"/>
              </a:ext>
            </a:extLst>
          </p:cNvPr>
          <p:cNvSpPr txBox="1"/>
          <p:nvPr/>
        </p:nvSpPr>
        <p:spPr>
          <a:xfrm>
            <a:off x="6065215" y="3764585"/>
            <a:ext cx="89428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0A5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P2P</a:t>
            </a:r>
            <a:r>
              <a:rPr lang="ko-KR" altLang="en-US" sz="1000" dirty="0">
                <a:solidFill>
                  <a:srgbClr val="60A5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000" dirty="0">
                <a:solidFill>
                  <a:srgbClr val="60A5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Sharing</a:t>
            </a:r>
            <a:endParaRPr lang="en-US" sz="1000" dirty="0"/>
          </a:p>
        </p:txBody>
      </p:sp>
      <p:sp>
        <p:nvSpPr>
          <p:cNvPr id="30" name="Shape 22">
            <a:extLst>
              <a:ext uri="{FF2B5EF4-FFF2-40B4-BE49-F238E27FC236}">
                <a16:creationId xmlns:a16="http://schemas.microsoft.com/office/drawing/2014/main" id="{C8AC68FD-EFE4-CC44-6B93-8B13359A15F8}"/>
              </a:ext>
            </a:extLst>
          </p:cNvPr>
          <p:cNvSpPr/>
          <p:nvPr/>
        </p:nvSpPr>
        <p:spPr>
          <a:xfrm>
            <a:off x="7175297" y="3678631"/>
            <a:ext cx="1380744" cy="381305"/>
          </a:xfrm>
          <a:prstGeom prst="roundRect">
            <a:avLst>
              <a:gd name="adj" fmla="val 119904"/>
            </a:avLst>
          </a:prstGeom>
          <a:solidFill>
            <a:srgbClr val="0A0A14">
              <a:alpha val="60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1" name="Image 6" descr="preencoded.png">
            <a:extLst>
              <a:ext uri="{FF2B5EF4-FFF2-40B4-BE49-F238E27FC236}">
                <a16:creationId xmlns:a16="http://schemas.microsoft.com/office/drawing/2014/main" id="{CDE9FE00-6F26-8043-64FD-1AC5000DA301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l="-837" r="-837"/>
          <a:stretch/>
        </p:blipFill>
        <p:spPr>
          <a:xfrm>
            <a:off x="7337146" y="3810305"/>
            <a:ext cx="152705" cy="133502"/>
          </a:xfrm>
          <a:prstGeom prst="rect">
            <a:avLst/>
          </a:prstGeom>
        </p:spPr>
      </p:pic>
      <p:sp>
        <p:nvSpPr>
          <p:cNvPr id="32" name="Text 23">
            <a:extLst>
              <a:ext uri="{FF2B5EF4-FFF2-40B4-BE49-F238E27FC236}">
                <a16:creationId xmlns:a16="http://schemas.microsoft.com/office/drawing/2014/main" id="{E19DA3FF-5EBD-C824-8D33-538861D6DD54}"/>
              </a:ext>
            </a:extLst>
          </p:cNvPr>
          <p:cNvSpPr txBox="1"/>
          <p:nvPr/>
        </p:nvSpPr>
        <p:spPr>
          <a:xfrm>
            <a:off x="7565746" y="3764585"/>
            <a:ext cx="93177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HoloLens AR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5593824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14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15000"/>
          </a:blip>
          <a:srcRect t="7811" b="781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381305" y="345925"/>
            <a:ext cx="178673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기술 1: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3596335" y="345925"/>
            <a:ext cx="189097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(AI Sentry)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1981505" y="307520"/>
            <a:ext cx="1795882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8B5CF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객체 인식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381305" y="1028700"/>
            <a:ext cx="3762756" cy="5600700"/>
          </a:xfrm>
          <a:prstGeom prst="roundRect">
            <a:avLst>
              <a:gd name="adj" fmla="val 492"/>
            </a:avLst>
          </a:prstGeom>
          <a:solidFill>
            <a:srgbClr val="0A0A14">
              <a:alpha val="50000"/>
            </a:srgbClr>
          </a:solidFill>
          <a:ln w="12700">
            <a:solidFill>
              <a:srgbClr val="9333EA">
                <a:alpha val="60000"/>
              </a:srgbClr>
            </a:solidFill>
            <a:prstDash val="solid"/>
          </a:ln>
          <a:effectLst>
            <a:outerShdw blurRad="139700" dist="12700" dir="16200000" algn="bl" rotWithShape="0">
              <a:srgbClr val="9333EA">
                <a:alpha val="20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9" name="Shape 6"/>
          <p:cNvSpPr/>
          <p:nvPr/>
        </p:nvSpPr>
        <p:spPr>
          <a:xfrm>
            <a:off x="541369" y="2583919"/>
            <a:ext cx="381305" cy="381305"/>
          </a:xfrm>
          <a:prstGeom prst="ellipse">
            <a:avLst/>
          </a:prstGeom>
          <a:solidFill>
            <a:srgbClr val="9333EA">
              <a:alpha val="20000"/>
            </a:srgbClr>
          </a:solidFill>
          <a:ln w="12700">
            <a:solidFill>
              <a:srgbClr val="9333EA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45610" y="2689075"/>
            <a:ext cx="171907" cy="171907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006755" y="2583919"/>
            <a:ext cx="11914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실시간 인식 엔진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1021385" y="2803375"/>
            <a:ext cx="287670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PathGuard의 AI는 카메라로 모든 도로 객체를 실시간 인식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541369" y="3305099"/>
            <a:ext cx="381305" cy="381305"/>
          </a:xfrm>
          <a:prstGeom prst="ellipse">
            <a:avLst/>
          </a:prstGeom>
          <a:solidFill>
            <a:srgbClr val="9333EA">
              <a:alpha val="20000"/>
            </a:srgbClr>
          </a:solidFill>
          <a:ln w="12700">
            <a:solidFill>
              <a:srgbClr val="9333EA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45610" y="3409340"/>
            <a:ext cx="171907" cy="171907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036059" y="3305099"/>
            <a:ext cx="10479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다중 객체 인식</a:t>
            </a:r>
            <a:endParaRPr lang="en-US" sz="1200" dirty="0"/>
          </a:p>
        </p:txBody>
      </p:sp>
      <p:sp>
        <p:nvSpPr>
          <p:cNvPr id="16" name="Text 11"/>
          <p:cNvSpPr txBox="1"/>
          <p:nvPr/>
        </p:nvSpPr>
        <p:spPr>
          <a:xfrm>
            <a:off x="1036059" y="3523640"/>
            <a:ext cx="239115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차량, 보행자, 이륜차, 장애물을 동시에 탐지/분류</a:t>
            </a:r>
            <a:endParaRPr lang="en-US" sz="900" dirty="0"/>
          </a:p>
        </p:txBody>
      </p:sp>
      <p:sp>
        <p:nvSpPr>
          <p:cNvPr id="17" name="Shape 12"/>
          <p:cNvSpPr/>
          <p:nvPr/>
        </p:nvSpPr>
        <p:spPr>
          <a:xfrm>
            <a:off x="544983" y="4025365"/>
            <a:ext cx="381305" cy="381305"/>
          </a:xfrm>
          <a:prstGeom prst="ellipse">
            <a:avLst/>
          </a:prstGeom>
          <a:solidFill>
            <a:srgbClr val="9333EA">
              <a:alpha val="20000"/>
            </a:srgbClr>
          </a:solidFill>
          <a:ln w="12700">
            <a:solidFill>
              <a:srgbClr val="9333EA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49224" y="4130521"/>
            <a:ext cx="171907" cy="171907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039673" y="4025365"/>
            <a:ext cx="10479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동적 속성 예측</a:t>
            </a:r>
            <a:endParaRPr lang="en-US" sz="1200" dirty="0"/>
          </a:p>
        </p:txBody>
      </p:sp>
      <p:sp>
        <p:nvSpPr>
          <p:cNvPr id="20" name="Text 14"/>
          <p:cNvSpPr txBox="1"/>
          <p:nvPr/>
        </p:nvSpPr>
        <p:spPr>
          <a:xfrm>
            <a:off x="1039673" y="4244821"/>
            <a:ext cx="241950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객체의 속도와 이동 방향 예측으로 충돌 위험 계산</a:t>
            </a:r>
            <a:endParaRPr lang="en-US" sz="900" dirty="0"/>
          </a:p>
        </p:txBody>
      </p:sp>
      <p:sp>
        <p:nvSpPr>
          <p:cNvPr id="21" name="Text 15"/>
          <p:cNvSpPr txBox="1"/>
          <p:nvPr/>
        </p:nvSpPr>
        <p:spPr>
          <a:xfrm>
            <a:off x="543154" y="5702198"/>
            <a:ext cx="68122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탐지 객체:</a:t>
            </a:r>
            <a:endParaRPr lang="en-US" sz="1000" dirty="0"/>
          </a:p>
        </p:txBody>
      </p:sp>
      <p:sp>
        <p:nvSpPr>
          <p:cNvPr id="22" name="Shape 16"/>
          <p:cNvSpPr/>
          <p:nvPr/>
        </p:nvSpPr>
        <p:spPr>
          <a:xfrm>
            <a:off x="543154" y="5930798"/>
            <a:ext cx="571500" cy="237744"/>
          </a:xfrm>
          <a:prstGeom prst="roundRect">
            <a:avLst>
              <a:gd name="adj" fmla="val 61538"/>
            </a:avLst>
          </a:prstGeom>
          <a:solidFill>
            <a:srgbClr val="3B82F6">
              <a:alpha val="2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7"/>
          <a:srcRect t="-80" b="-80"/>
          <a:stretch/>
        </p:blipFill>
        <p:spPr>
          <a:xfrm>
            <a:off x="629107" y="5996635"/>
            <a:ext cx="142646" cy="114300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809244" y="5962802"/>
            <a:ext cx="3054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0A5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차량</a:t>
            </a:r>
            <a:endParaRPr lang="en-US" sz="900" dirty="0"/>
          </a:p>
        </p:txBody>
      </p:sp>
      <p:sp>
        <p:nvSpPr>
          <p:cNvPr id="25" name="Shape 18"/>
          <p:cNvSpPr/>
          <p:nvPr/>
        </p:nvSpPr>
        <p:spPr>
          <a:xfrm>
            <a:off x="1182319" y="5930798"/>
            <a:ext cx="609905" cy="237744"/>
          </a:xfrm>
          <a:prstGeom prst="roundRect">
            <a:avLst>
              <a:gd name="adj" fmla="val 61538"/>
            </a:avLst>
          </a:prstGeom>
          <a:solidFill>
            <a:srgbClr val="EC4899">
              <a:alpha val="20000"/>
            </a:srgbClr>
          </a:solidFill>
          <a:ln w="12700">
            <a:solidFill>
              <a:srgbClr val="EC4899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8"/>
          <a:srcRect l="-3120" r="-3120"/>
          <a:stretch/>
        </p:blipFill>
        <p:spPr>
          <a:xfrm>
            <a:off x="1267358" y="5996635"/>
            <a:ext cx="75895" cy="114300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1381658" y="5962802"/>
            <a:ext cx="40965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472B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보행자</a:t>
            </a:r>
            <a:endParaRPr lang="en-US" sz="900" dirty="0"/>
          </a:p>
        </p:txBody>
      </p:sp>
      <p:sp>
        <p:nvSpPr>
          <p:cNvPr id="28" name="Shape 20"/>
          <p:cNvSpPr/>
          <p:nvPr/>
        </p:nvSpPr>
        <p:spPr>
          <a:xfrm>
            <a:off x="1859890" y="5930798"/>
            <a:ext cx="676656" cy="237744"/>
          </a:xfrm>
          <a:prstGeom prst="roundRect">
            <a:avLst>
              <a:gd name="adj" fmla="val 61538"/>
            </a:avLst>
          </a:prstGeom>
          <a:solidFill>
            <a:srgbClr val="10B981">
              <a:alpha val="20000"/>
            </a:srgbClr>
          </a:solidFill>
          <a:ln w="12700">
            <a:solidFill>
              <a:srgbClr val="10B981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9" name="Image 6" descr="preencoded.png"/>
          <p:cNvPicPr>
            <a:picLocks noChangeAspect="1"/>
          </p:cNvPicPr>
          <p:nvPr/>
        </p:nvPicPr>
        <p:blipFill>
          <a:blip r:embed="rId9"/>
          <a:srcRect t="-80" b="-80"/>
          <a:stretch/>
        </p:blipFill>
        <p:spPr>
          <a:xfrm>
            <a:off x="1944929" y="5996635"/>
            <a:ext cx="142646" cy="114300"/>
          </a:xfrm>
          <a:prstGeom prst="rect">
            <a:avLst/>
          </a:prstGeom>
        </p:spPr>
      </p:pic>
      <p:sp>
        <p:nvSpPr>
          <p:cNvPr id="30" name="Text 21"/>
          <p:cNvSpPr txBox="1"/>
          <p:nvPr/>
        </p:nvSpPr>
        <p:spPr>
          <a:xfrm>
            <a:off x="2125980" y="5962802"/>
            <a:ext cx="40965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4D39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이륜차</a:t>
            </a:r>
            <a:endParaRPr lang="en-US" sz="900" dirty="0"/>
          </a:p>
        </p:txBody>
      </p:sp>
      <p:sp>
        <p:nvSpPr>
          <p:cNvPr id="31" name="Shape 22"/>
          <p:cNvSpPr/>
          <p:nvPr/>
        </p:nvSpPr>
        <p:spPr>
          <a:xfrm>
            <a:off x="2603297" y="5930798"/>
            <a:ext cx="647395" cy="237744"/>
          </a:xfrm>
          <a:prstGeom prst="roundRect">
            <a:avLst>
              <a:gd name="adj" fmla="val 61538"/>
            </a:avLst>
          </a:prstGeom>
          <a:solidFill>
            <a:srgbClr val="F59E0B">
              <a:alpha val="20000"/>
            </a:srgbClr>
          </a:solidFill>
          <a:ln w="12700">
            <a:solidFill>
              <a:srgbClr val="F59E0B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2689250" y="5996635"/>
            <a:ext cx="114300" cy="114300"/>
          </a:xfrm>
          <a:prstGeom prst="rect">
            <a:avLst/>
          </a:prstGeom>
        </p:spPr>
      </p:pic>
      <p:sp>
        <p:nvSpPr>
          <p:cNvPr id="33" name="Text 23"/>
          <p:cNvSpPr txBox="1"/>
          <p:nvPr/>
        </p:nvSpPr>
        <p:spPr>
          <a:xfrm>
            <a:off x="2841955" y="5962802"/>
            <a:ext cx="40965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BBF2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장애물</a:t>
            </a:r>
            <a:endParaRPr lang="en-US" sz="900" dirty="0"/>
          </a:p>
        </p:txBody>
      </p:sp>
      <p:pic>
        <p:nvPicPr>
          <p:cNvPr id="43" name="Image 11" descr="preencoded.png"/>
          <p:cNvPicPr>
            <a:picLocks noChangeAspect="1"/>
          </p:cNvPicPr>
          <p:nvPr/>
        </p:nvPicPr>
        <p:blipFill>
          <a:blip r:embed="rId11"/>
          <a:srcRect l="5216" r="5216"/>
          <a:stretch/>
        </p:blipFill>
        <p:spPr>
          <a:xfrm>
            <a:off x="4295851" y="1028700"/>
            <a:ext cx="7524598" cy="5600700"/>
          </a:xfrm>
          <a:prstGeom prst="rect">
            <a:avLst/>
          </a:prstGeom>
        </p:spPr>
      </p:pic>
      <p:sp>
        <p:nvSpPr>
          <p:cNvPr id="44" name="Text 30"/>
          <p:cNvSpPr txBox="1"/>
          <p:nvPr/>
        </p:nvSpPr>
        <p:spPr>
          <a:xfrm>
            <a:off x="6704381" y="6391656"/>
            <a:ext cx="279166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Sentry의 실시간 객체 인식 (YOLO-style 바운딩 박스)</a:t>
            </a:r>
            <a:endParaRPr lang="en-US" sz="900" dirty="0"/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B597A898-DFBD-A2F7-584E-1E11A7F3AE3F}"/>
              </a:ext>
            </a:extLst>
          </p:cNvPr>
          <p:cNvSpPr/>
          <p:nvPr/>
        </p:nvSpPr>
        <p:spPr>
          <a:xfrm>
            <a:off x="10276114" y="3265716"/>
            <a:ext cx="879827" cy="189411"/>
          </a:xfrm>
          <a:prstGeom prst="rect">
            <a:avLst/>
          </a:prstGeom>
          <a:solidFill>
            <a:srgbClr val="000A0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Text 4">
            <a:extLst>
              <a:ext uri="{FF2B5EF4-FFF2-40B4-BE49-F238E27FC236}">
                <a16:creationId xmlns:a16="http://schemas.microsoft.com/office/drawing/2014/main" id="{A2926996-D04C-90F7-A45A-142BC211A9A0}"/>
              </a:ext>
            </a:extLst>
          </p:cNvPr>
          <p:cNvSpPr txBox="1"/>
          <p:nvPr/>
        </p:nvSpPr>
        <p:spPr>
          <a:xfrm>
            <a:off x="10276114" y="3236995"/>
            <a:ext cx="694203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C75A41"/>
                </a:solidFill>
                <a:latin typeface="Noto Sans KR" pitchFamily="34" charset="0"/>
                <a:ea typeface="Noto Sans KR" pitchFamily="34" charset="-122"/>
              </a:rPr>
              <a:t>BICYCLE</a:t>
            </a:r>
            <a:endParaRPr lang="en-US" sz="1300" dirty="0">
              <a:solidFill>
                <a:srgbClr val="C75A4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B2CA04-8071-184A-1FAC-451F4C3D5D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8F4E4C8-19A5-CA8B-EFD8-8C2B2386C013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14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124265C4-8D6A-6E05-3CB0-CCF485F28FAF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15000"/>
          </a:blip>
          <a:srcRect t="7811" b="781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091D151B-B2CC-78C4-B42E-76C0C185BECB}"/>
              </a:ext>
            </a:extLst>
          </p:cNvPr>
          <p:cNvSpPr txBox="1"/>
          <p:nvPr/>
        </p:nvSpPr>
        <p:spPr>
          <a:xfrm>
            <a:off x="381305" y="345925"/>
            <a:ext cx="178673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기술 1:</a:t>
            </a:r>
            <a:endParaRPr lang="en-US" sz="220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E29F832B-1EDE-1E9E-7E79-8ABA6DA57579}"/>
              </a:ext>
            </a:extLst>
          </p:cNvPr>
          <p:cNvSpPr txBox="1"/>
          <p:nvPr/>
        </p:nvSpPr>
        <p:spPr>
          <a:xfrm>
            <a:off x="3596335" y="345925"/>
            <a:ext cx="189097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(AI Sentry)</a:t>
            </a:r>
            <a:endParaRPr lang="en-US" sz="220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9809988F-0B21-7AE6-5F3A-DB4F6468F73B}"/>
              </a:ext>
            </a:extLst>
          </p:cNvPr>
          <p:cNvSpPr txBox="1"/>
          <p:nvPr/>
        </p:nvSpPr>
        <p:spPr>
          <a:xfrm>
            <a:off x="1981505" y="307520"/>
            <a:ext cx="1795882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8B5CF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객체 인식</a:t>
            </a:r>
            <a:endParaRPr lang="en-US" sz="2200" dirty="0"/>
          </a:p>
        </p:txBody>
      </p:sp>
      <p:pic>
        <p:nvPicPr>
          <p:cNvPr id="7" name="ai fin">
            <a:hlinkClick r:id="" action="ppaction://media"/>
            <a:extLst>
              <a:ext uri="{FF2B5EF4-FFF2-40B4-BE49-F238E27FC236}">
                <a16:creationId xmlns:a16="http://schemas.microsoft.com/office/drawing/2014/main" id="{13F10C0E-0E61-FD17-C0BB-A875DF23840A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209810" y="1025017"/>
            <a:ext cx="9772073" cy="5496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77730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579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 mute="1">
                <p:cTn id="7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14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15000"/>
          </a:blip>
          <a:srcRect l="418" r="418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228600" y="209398"/>
            <a:ext cx="1438351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기술 2:</a:t>
            </a:r>
            <a:endParaRPr 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2468880" y="209398"/>
            <a:ext cx="1991563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(The Network)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1494130" y="209398"/>
            <a:ext cx="1153058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3B82F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</a:t>
            </a:r>
            <a:r>
              <a:rPr lang="en-US" sz="1800" b="1" dirty="0">
                <a:solidFill>
                  <a:srgbClr val="3B82F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2P 공유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228600" y="571500"/>
            <a:ext cx="35058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A5B4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나의 시야를 넘어, '주변 차량의 시야'를 공유받습니다.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228600" y="952805"/>
            <a:ext cx="5790895" cy="2648102"/>
          </a:xfrm>
          <a:prstGeom prst="roundRect">
            <a:avLst>
              <a:gd name="adj" fmla="val 994"/>
            </a:avLst>
          </a:prstGeom>
          <a:solidFill>
            <a:srgbClr val="0A0A14">
              <a:alpha val="50000"/>
            </a:srgbClr>
          </a:solidFill>
          <a:ln w="12700">
            <a:solidFill>
              <a:srgbClr val="1D4ED8">
                <a:alpha val="60000"/>
              </a:srgbClr>
            </a:solidFill>
            <a:prstDash val="solid"/>
          </a:ln>
          <a:effectLst>
            <a:outerShdw blurRad="139700" dist="12700" dir="16200000" algn="bl" rotWithShape="0">
              <a:srgbClr val="1D4ED8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390449" y="1114654"/>
            <a:ext cx="5467198" cy="705002"/>
          </a:xfrm>
          <a:prstGeom prst="roundRect">
            <a:avLst>
              <a:gd name="adj" fmla="val 14022"/>
            </a:avLst>
          </a:prstGeom>
          <a:solidFill>
            <a:srgbClr val="1E3A8A">
              <a:alpha val="3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390449" y="1114654"/>
            <a:ext cx="38405" cy="705002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520294" y="1206094"/>
            <a:ext cx="381305" cy="381305"/>
          </a:xfrm>
          <a:prstGeom prst="ellipse">
            <a:avLst/>
          </a:prstGeom>
          <a:solidFill>
            <a:srgbClr val="1E3A8A">
              <a:alpha val="50000"/>
            </a:srgbClr>
          </a:solidFill>
          <a:ln w="25400">
            <a:solidFill>
              <a:srgbClr val="3B82F6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rcRect t="-841" b="-841"/>
          <a:stretch/>
        </p:blipFill>
        <p:spPr>
          <a:xfrm>
            <a:off x="615391" y="1310335"/>
            <a:ext cx="190195" cy="171907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023214" y="1206094"/>
            <a:ext cx="115763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3C5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실시간 데이터 공유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390449" y="1933042"/>
            <a:ext cx="5467198" cy="571500"/>
          </a:xfrm>
          <a:prstGeom prst="roundRect">
            <a:avLst>
              <a:gd name="adj" fmla="val 21333"/>
            </a:avLst>
          </a:prstGeom>
          <a:solidFill>
            <a:srgbClr val="1E3A8A">
              <a:alpha val="3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1"/>
          <p:cNvSpPr/>
          <p:nvPr/>
        </p:nvSpPr>
        <p:spPr>
          <a:xfrm>
            <a:off x="390449" y="1933042"/>
            <a:ext cx="38405" cy="57150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2"/>
          <p:cNvSpPr/>
          <p:nvPr/>
        </p:nvSpPr>
        <p:spPr>
          <a:xfrm>
            <a:off x="390449" y="2618842"/>
            <a:ext cx="5467198" cy="705002"/>
          </a:xfrm>
          <a:prstGeom prst="roundRect">
            <a:avLst>
              <a:gd name="adj" fmla="val 14022"/>
            </a:avLst>
          </a:prstGeom>
          <a:solidFill>
            <a:srgbClr val="1E3A8A">
              <a:alpha val="3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3"/>
          <p:cNvSpPr/>
          <p:nvPr/>
        </p:nvSpPr>
        <p:spPr>
          <a:xfrm>
            <a:off x="390449" y="2618842"/>
            <a:ext cx="38405" cy="705002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4"/>
          <p:cNvSpPr/>
          <p:nvPr/>
        </p:nvSpPr>
        <p:spPr>
          <a:xfrm>
            <a:off x="520294" y="2024482"/>
            <a:ext cx="381305" cy="381305"/>
          </a:xfrm>
          <a:prstGeom prst="ellipse">
            <a:avLst/>
          </a:prstGeom>
          <a:solidFill>
            <a:srgbClr val="1E3A8A">
              <a:alpha val="50000"/>
            </a:srgbClr>
          </a:solidFill>
          <a:ln w="25400">
            <a:solidFill>
              <a:srgbClr val="3B82F6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5"/>
          <p:cNvSpPr/>
          <p:nvPr/>
        </p:nvSpPr>
        <p:spPr>
          <a:xfrm>
            <a:off x="520294" y="2710282"/>
            <a:ext cx="381305" cy="381305"/>
          </a:xfrm>
          <a:prstGeom prst="ellipse">
            <a:avLst/>
          </a:prstGeom>
          <a:solidFill>
            <a:srgbClr val="1E3A8A">
              <a:alpha val="50000"/>
            </a:srgbClr>
          </a:solidFill>
          <a:ln w="25400">
            <a:solidFill>
              <a:srgbClr val="3B82F6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6"/>
          <p:cNvSpPr txBox="1"/>
          <p:nvPr/>
        </p:nvSpPr>
        <p:spPr>
          <a:xfrm>
            <a:off x="1023214" y="1405433"/>
            <a:ext cx="12390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AI가 인식한 객체 정보는</a:t>
            </a:r>
            <a:endParaRPr lang="en-US" sz="900" dirty="0"/>
          </a:p>
        </p:txBody>
      </p:sp>
      <p:sp>
        <p:nvSpPr>
          <p:cNvPr id="21" name="Text 17"/>
          <p:cNvSpPr txBox="1"/>
          <p:nvPr/>
        </p:nvSpPr>
        <p:spPr>
          <a:xfrm>
            <a:off x="1023214" y="2224735"/>
            <a:ext cx="376275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내 차량이 볼 수 없는 사각지대도 다른 차량의 시야를 통해 확보할 수 있습니다.</a:t>
            </a:r>
            <a:endParaRPr lang="en-US" sz="900" dirty="0"/>
          </a:p>
        </p:txBody>
      </p:sp>
      <p:sp>
        <p:nvSpPr>
          <p:cNvPr id="22" name="Text 18"/>
          <p:cNvSpPr txBox="1"/>
          <p:nvPr/>
        </p:nvSpPr>
        <p:spPr>
          <a:xfrm>
            <a:off x="1023214" y="1558138"/>
            <a:ext cx="9720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8B5CF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P2P(</a:t>
            </a:r>
            <a:r>
              <a:rPr lang="ko-KR" altLang="en-US" sz="900" b="1" dirty="0">
                <a:solidFill>
                  <a:srgbClr val="8B5CF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개인</a:t>
            </a:r>
            <a:r>
              <a:rPr lang="en-US" sz="900" b="1" dirty="0">
                <a:solidFill>
                  <a:srgbClr val="8B5CF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간 통신)</a:t>
            </a:r>
            <a:endParaRPr lang="en-US" sz="900" dirty="0"/>
          </a:p>
        </p:txBody>
      </p:sp>
      <p:sp>
        <p:nvSpPr>
          <p:cNvPr id="23" name="Text 19"/>
          <p:cNvSpPr txBox="1"/>
          <p:nvPr/>
        </p:nvSpPr>
        <p:spPr>
          <a:xfrm>
            <a:off x="1908353" y="1558138"/>
            <a:ext cx="21342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를 통해 주변 차량들과 </a:t>
            </a:r>
            <a:r>
              <a:rPr lang="en-US" sz="900" dirty="0" err="1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실시간</a:t>
            </a:r>
            <a:r>
              <a:rPr lang="en-US" sz="9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900" dirty="0" err="1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공유됩니다</a:t>
            </a:r>
            <a:r>
              <a:rPr lang="en-US" sz="9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</a:t>
            </a:r>
            <a:endParaRPr lang="en-US" sz="900" dirty="0"/>
          </a:p>
        </p:txBody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5"/>
          <a:srcRect t="-841" b="-841"/>
          <a:stretch/>
        </p:blipFill>
        <p:spPr>
          <a:xfrm>
            <a:off x="615391" y="2129638"/>
            <a:ext cx="190195" cy="171907"/>
          </a:xfrm>
          <a:prstGeom prst="rect">
            <a:avLst/>
          </a:prstGeom>
        </p:spPr>
      </p:pic>
      <p:sp>
        <p:nvSpPr>
          <p:cNvPr id="25" name="Text 20"/>
          <p:cNvSpPr txBox="1"/>
          <p:nvPr/>
        </p:nvSpPr>
        <p:spPr>
          <a:xfrm>
            <a:off x="1023214" y="2024482"/>
            <a:ext cx="6336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3C5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시야 확장</a:t>
            </a:r>
            <a:endParaRPr lang="en-US" sz="1000" dirty="0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24535" y="2815438"/>
            <a:ext cx="171907" cy="171907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1023214" y="2710282"/>
            <a:ext cx="115763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3C5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메쉬 네트워크 구조</a:t>
            </a:r>
            <a:endParaRPr lang="en-US" sz="1000" dirty="0"/>
          </a:p>
        </p:txBody>
      </p:sp>
      <p:sp>
        <p:nvSpPr>
          <p:cNvPr id="28" name="Text 22"/>
          <p:cNvSpPr txBox="1"/>
          <p:nvPr/>
        </p:nvSpPr>
        <p:spPr>
          <a:xfrm>
            <a:off x="1023214" y="2910535"/>
            <a:ext cx="134325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중앙 서버에 의존하지 않는</a:t>
            </a:r>
            <a:endParaRPr lang="en-US" sz="900" dirty="0"/>
          </a:p>
        </p:txBody>
      </p:sp>
      <p:sp>
        <p:nvSpPr>
          <p:cNvPr id="29" name="Text 23"/>
          <p:cNvSpPr txBox="1"/>
          <p:nvPr/>
        </p:nvSpPr>
        <p:spPr>
          <a:xfrm>
            <a:off x="1023214" y="3063240"/>
            <a:ext cx="10104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8B5CF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P2P 메쉬 네트워크</a:t>
            </a:r>
            <a:endParaRPr lang="en-US" sz="900" dirty="0"/>
          </a:p>
        </p:txBody>
      </p:sp>
      <p:sp>
        <p:nvSpPr>
          <p:cNvPr id="30" name="Text 24"/>
          <p:cNvSpPr txBox="1"/>
          <p:nvPr/>
        </p:nvSpPr>
        <p:spPr>
          <a:xfrm>
            <a:off x="1937614" y="3063240"/>
            <a:ext cx="15435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로, 지연 없이 즉각 공유합니다.</a:t>
            </a:r>
            <a:endParaRPr lang="en-US" sz="900" dirty="0"/>
          </a:p>
        </p:txBody>
      </p:sp>
      <p:sp>
        <p:nvSpPr>
          <p:cNvPr id="31" name="Shape 25"/>
          <p:cNvSpPr/>
          <p:nvPr/>
        </p:nvSpPr>
        <p:spPr>
          <a:xfrm>
            <a:off x="6172200" y="952805"/>
            <a:ext cx="5790895" cy="4705502"/>
          </a:xfrm>
          <a:prstGeom prst="roundRect">
            <a:avLst>
              <a:gd name="adj" fmla="val 315"/>
            </a:avLst>
          </a:prstGeom>
          <a:solidFill>
            <a:srgbClr val="0A0A14">
              <a:alpha val="50000"/>
            </a:srgbClr>
          </a:solidFill>
          <a:ln w="12700">
            <a:solidFill>
              <a:srgbClr val="8B5CF6">
                <a:alpha val="60000"/>
              </a:srgbClr>
            </a:solidFill>
            <a:prstDash val="solid"/>
          </a:ln>
          <a:effectLst>
            <a:outerShdw blurRad="139700" dist="12700" dir="16200000" algn="bl" rotWithShape="0">
              <a:srgbClr val="8B5CF6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32" name="Image 4" descr="preencoded.png"/>
          <p:cNvPicPr>
            <a:picLocks noChangeAspect="1"/>
          </p:cNvPicPr>
          <p:nvPr/>
        </p:nvPicPr>
        <p:blipFill>
          <a:blip r:embed="rId7"/>
          <a:srcRect t="18640" b="18640"/>
          <a:stretch/>
        </p:blipFill>
        <p:spPr>
          <a:xfrm>
            <a:off x="6334049" y="1114654"/>
            <a:ext cx="5467198" cy="2286000"/>
          </a:xfrm>
          <a:prstGeom prst="rect">
            <a:avLst/>
          </a:prstGeom>
        </p:spPr>
      </p:pic>
      <p:sp>
        <p:nvSpPr>
          <p:cNvPr id="33" name="Text 26"/>
          <p:cNvSpPr txBox="1"/>
          <p:nvPr/>
        </p:nvSpPr>
        <p:spPr>
          <a:xfrm>
            <a:off x="8478317" y="3522269"/>
            <a:ext cx="128198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A78B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공유 프로세스</a:t>
            </a:r>
            <a:endParaRPr lang="en-US" sz="1000" dirty="0"/>
          </a:p>
        </p:txBody>
      </p:sp>
      <p:sp>
        <p:nvSpPr>
          <p:cNvPr id="34" name="Shape 27"/>
          <p:cNvSpPr/>
          <p:nvPr/>
        </p:nvSpPr>
        <p:spPr>
          <a:xfrm>
            <a:off x="6334049" y="3789274"/>
            <a:ext cx="5467198" cy="352044"/>
          </a:xfrm>
          <a:prstGeom prst="roundRect">
            <a:avLst>
              <a:gd name="adj" fmla="val 56160"/>
            </a:avLst>
          </a:prstGeom>
          <a:solidFill>
            <a:srgbClr val="4338CA">
              <a:alpha val="2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28"/>
          <p:cNvSpPr/>
          <p:nvPr/>
        </p:nvSpPr>
        <p:spPr>
          <a:xfrm>
            <a:off x="6334049" y="4215384"/>
            <a:ext cx="5467198" cy="352044"/>
          </a:xfrm>
          <a:prstGeom prst="roundRect">
            <a:avLst>
              <a:gd name="adj" fmla="val 56160"/>
            </a:avLst>
          </a:prstGeom>
          <a:solidFill>
            <a:srgbClr val="4338CA">
              <a:alpha val="2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29"/>
          <p:cNvSpPr/>
          <p:nvPr/>
        </p:nvSpPr>
        <p:spPr>
          <a:xfrm>
            <a:off x="6334049" y="4642409"/>
            <a:ext cx="5467198" cy="352044"/>
          </a:xfrm>
          <a:prstGeom prst="roundRect">
            <a:avLst>
              <a:gd name="adj" fmla="val 56160"/>
            </a:avLst>
          </a:prstGeom>
          <a:solidFill>
            <a:srgbClr val="4338CA">
              <a:alpha val="2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7" name="Shape 30"/>
          <p:cNvSpPr/>
          <p:nvPr/>
        </p:nvSpPr>
        <p:spPr>
          <a:xfrm>
            <a:off x="6334049" y="5068519"/>
            <a:ext cx="5467198" cy="352044"/>
          </a:xfrm>
          <a:prstGeom prst="roundRect">
            <a:avLst>
              <a:gd name="adj" fmla="val 56160"/>
            </a:avLst>
          </a:prstGeom>
          <a:solidFill>
            <a:srgbClr val="4338CA">
              <a:alpha val="2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" name="Shape 31"/>
          <p:cNvSpPr/>
          <p:nvPr/>
        </p:nvSpPr>
        <p:spPr>
          <a:xfrm>
            <a:off x="6425489" y="3849624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1E3A8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2"/>
          <p:cNvSpPr txBox="1"/>
          <p:nvPr/>
        </p:nvSpPr>
        <p:spPr>
          <a:xfrm>
            <a:off x="6507785" y="3878885"/>
            <a:ext cx="1527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3C5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900" dirty="0"/>
          </a:p>
        </p:txBody>
      </p:sp>
      <p:sp>
        <p:nvSpPr>
          <p:cNvPr id="40" name="Text 33"/>
          <p:cNvSpPr txBox="1"/>
          <p:nvPr/>
        </p:nvSpPr>
        <p:spPr>
          <a:xfrm>
            <a:off x="6729984" y="3878885"/>
            <a:ext cx="58155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93C5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객체 인식:</a:t>
            </a:r>
            <a:endParaRPr lang="en-US" sz="900" dirty="0"/>
          </a:p>
        </p:txBody>
      </p:sp>
      <p:sp>
        <p:nvSpPr>
          <p:cNvPr id="41" name="Text 34"/>
          <p:cNvSpPr txBox="1"/>
          <p:nvPr/>
        </p:nvSpPr>
        <p:spPr>
          <a:xfrm>
            <a:off x="7220102" y="3878885"/>
            <a:ext cx="17529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Sentry가 실시간 주변 객체 인식</a:t>
            </a:r>
            <a:endParaRPr lang="en-US" sz="900" dirty="0"/>
          </a:p>
        </p:txBody>
      </p:sp>
      <p:sp>
        <p:nvSpPr>
          <p:cNvPr id="42" name="Text 35"/>
          <p:cNvSpPr txBox="1"/>
          <p:nvPr/>
        </p:nvSpPr>
        <p:spPr>
          <a:xfrm>
            <a:off x="7325258" y="4304995"/>
            <a:ext cx="17913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위치, 속도, 방향 등 메타데이터 추가</a:t>
            </a:r>
            <a:endParaRPr lang="en-US" sz="900" dirty="0"/>
          </a:p>
        </p:txBody>
      </p:sp>
      <p:sp>
        <p:nvSpPr>
          <p:cNvPr id="43" name="Text 36"/>
          <p:cNvSpPr txBox="1"/>
          <p:nvPr/>
        </p:nvSpPr>
        <p:spPr>
          <a:xfrm>
            <a:off x="7398410" y="4731106"/>
            <a:ext cx="16002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 err="1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주변</a:t>
            </a:r>
            <a:r>
              <a:rPr lang="en-US" sz="9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ko-KR" altLang="en-US" sz="9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３</a:t>
            </a:r>
            <a:endParaRPr lang="en-US" sz="900" dirty="0"/>
          </a:p>
        </p:txBody>
      </p:sp>
      <p:sp>
        <p:nvSpPr>
          <p:cNvPr id="44" name="Text 37"/>
          <p:cNvSpPr txBox="1"/>
          <p:nvPr/>
        </p:nvSpPr>
        <p:spPr>
          <a:xfrm>
            <a:off x="7266737" y="5158130"/>
            <a:ext cx="174376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HoloLens를 통해 운전자에게 표시</a:t>
            </a:r>
            <a:endParaRPr lang="en-US" sz="900" dirty="0"/>
          </a:p>
        </p:txBody>
      </p:sp>
      <p:sp>
        <p:nvSpPr>
          <p:cNvPr id="45" name="Shape 38"/>
          <p:cNvSpPr/>
          <p:nvPr/>
        </p:nvSpPr>
        <p:spPr>
          <a:xfrm>
            <a:off x="6425489" y="4276649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312E8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6" name="Text 39"/>
          <p:cNvSpPr txBox="1"/>
          <p:nvPr/>
        </p:nvSpPr>
        <p:spPr>
          <a:xfrm>
            <a:off x="6507785" y="4304995"/>
            <a:ext cx="1527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5B4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900" dirty="0"/>
          </a:p>
        </p:txBody>
      </p:sp>
      <p:sp>
        <p:nvSpPr>
          <p:cNvPr id="47" name="Text 40"/>
          <p:cNvSpPr txBox="1"/>
          <p:nvPr/>
        </p:nvSpPr>
        <p:spPr>
          <a:xfrm>
            <a:off x="6729984" y="4304995"/>
            <a:ext cx="6858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A5B4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처리:</a:t>
            </a:r>
            <a:endParaRPr lang="en-US" sz="900" dirty="0"/>
          </a:p>
        </p:txBody>
      </p:sp>
      <p:sp>
        <p:nvSpPr>
          <p:cNvPr id="48" name="Shape 41"/>
          <p:cNvSpPr/>
          <p:nvPr/>
        </p:nvSpPr>
        <p:spPr>
          <a:xfrm>
            <a:off x="6425489" y="4702759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4C1D9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9" name="Text 42"/>
          <p:cNvSpPr txBox="1"/>
          <p:nvPr/>
        </p:nvSpPr>
        <p:spPr>
          <a:xfrm>
            <a:off x="6507785" y="4731106"/>
            <a:ext cx="1527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4B5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900" dirty="0"/>
          </a:p>
        </p:txBody>
      </p:sp>
      <p:sp>
        <p:nvSpPr>
          <p:cNvPr id="50" name="Text 43"/>
          <p:cNvSpPr txBox="1"/>
          <p:nvPr/>
        </p:nvSpPr>
        <p:spPr>
          <a:xfrm>
            <a:off x="6729984" y="4731106"/>
            <a:ext cx="7626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C4B5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브로드캐스트:</a:t>
            </a:r>
            <a:endParaRPr lang="en-US" sz="900" dirty="0"/>
          </a:p>
        </p:txBody>
      </p:sp>
      <p:sp>
        <p:nvSpPr>
          <p:cNvPr id="51" name="Shape 44"/>
          <p:cNvSpPr/>
          <p:nvPr/>
        </p:nvSpPr>
        <p:spPr>
          <a:xfrm>
            <a:off x="6425489" y="5129784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83184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2" name="Text 45"/>
          <p:cNvSpPr txBox="1"/>
          <p:nvPr/>
        </p:nvSpPr>
        <p:spPr>
          <a:xfrm>
            <a:off x="6507785" y="5158130"/>
            <a:ext cx="1527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9A8D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900" dirty="0"/>
          </a:p>
        </p:txBody>
      </p:sp>
      <p:sp>
        <p:nvSpPr>
          <p:cNvPr id="53" name="Text 46"/>
          <p:cNvSpPr txBox="1"/>
          <p:nvPr/>
        </p:nvSpPr>
        <p:spPr>
          <a:xfrm>
            <a:off x="6729984" y="5158130"/>
            <a:ext cx="6291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9A8D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AR 시각화:</a:t>
            </a:r>
            <a:endParaRPr lang="en-US" sz="900" dirty="0"/>
          </a:p>
        </p:txBody>
      </p:sp>
      <p:sp>
        <p:nvSpPr>
          <p:cNvPr id="54" name="Text 36">
            <a:extLst>
              <a:ext uri="{FF2B5EF4-FFF2-40B4-BE49-F238E27FC236}">
                <a16:creationId xmlns:a16="http://schemas.microsoft.com/office/drawing/2014/main" id="{97D78AFE-EDEB-4E1C-6DFC-2D131D5814C1}"/>
              </a:ext>
            </a:extLst>
          </p:cNvPr>
          <p:cNvSpPr txBox="1"/>
          <p:nvPr/>
        </p:nvSpPr>
        <p:spPr>
          <a:xfrm>
            <a:off x="7717068" y="4731105"/>
            <a:ext cx="16002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9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０</a:t>
            </a:r>
            <a:r>
              <a:rPr lang="en-US" sz="9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 내 모든 </a:t>
            </a:r>
            <a:r>
              <a:rPr lang="en-US" sz="900" dirty="0" err="1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차량에</a:t>
            </a:r>
            <a:r>
              <a:rPr lang="en-US" sz="9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900" dirty="0" err="1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전송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3FA1B5-0996-5FBA-0E59-C12D41C595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9E2BF32-3F71-71F0-5A8A-BD1D9C23430C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14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34BEFDCA-EC5D-5569-5E7E-7E5D6F332619}"/>
              </a:ext>
            </a:extLst>
          </p:cNvPr>
          <p:cNvPicPr>
            <a:picLocks noChangeAspect="1"/>
          </p:cNvPicPr>
          <p:nvPr/>
        </p:nvPicPr>
        <p:blipFill>
          <a:blip r:embed="rId7">
            <a:alphaModFix amt="15000"/>
          </a:blip>
          <a:srcRect l="418" r="418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3B77228F-B937-F6DD-065C-0D3CDA1F13D4}"/>
              </a:ext>
            </a:extLst>
          </p:cNvPr>
          <p:cNvSpPr txBox="1"/>
          <p:nvPr/>
        </p:nvSpPr>
        <p:spPr>
          <a:xfrm>
            <a:off x="228600" y="209398"/>
            <a:ext cx="1438351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기술 2:</a:t>
            </a:r>
            <a:endParaRPr lang="en-US" sz="180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449BFDA4-AEF8-E8C5-5A6F-484291503FD9}"/>
              </a:ext>
            </a:extLst>
          </p:cNvPr>
          <p:cNvSpPr txBox="1"/>
          <p:nvPr/>
        </p:nvSpPr>
        <p:spPr>
          <a:xfrm>
            <a:off x="2468880" y="209398"/>
            <a:ext cx="1991563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(The Network)</a:t>
            </a:r>
            <a:endParaRPr lang="en-US" sz="180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0591D5A0-0A4C-5DE3-8DEC-DF4B6D315B1E}"/>
              </a:ext>
            </a:extLst>
          </p:cNvPr>
          <p:cNvSpPr txBox="1"/>
          <p:nvPr/>
        </p:nvSpPr>
        <p:spPr>
          <a:xfrm>
            <a:off x="1494130" y="209398"/>
            <a:ext cx="1153058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3B82F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</a:t>
            </a:r>
            <a:r>
              <a:rPr lang="en-US" sz="1800" b="1" dirty="0">
                <a:solidFill>
                  <a:srgbClr val="3B82F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2P 공유</a:t>
            </a:r>
            <a:endParaRPr lang="en-US" sz="18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C20E4D88-351D-D208-1630-28E311E89848}"/>
              </a:ext>
            </a:extLst>
          </p:cNvPr>
          <p:cNvSpPr txBox="1"/>
          <p:nvPr/>
        </p:nvSpPr>
        <p:spPr>
          <a:xfrm>
            <a:off x="228600" y="571500"/>
            <a:ext cx="35058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A5B4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나의 시야를 넘어, '주변 차량의 시야'를 공유받습니다.</a:t>
            </a:r>
            <a:endParaRPr lang="en-US" sz="1200" dirty="0"/>
          </a:p>
        </p:txBody>
      </p:sp>
      <p:pic>
        <p:nvPicPr>
          <p:cNvPr id="55" name="p2p2p2p">
            <a:hlinkClick r:id="" action="ppaction://media"/>
            <a:extLst>
              <a:ext uri="{FF2B5EF4-FFF2-40B4-BE49-F238E27FC236}">
                <a16:creationId xmlns:a16="http://schemas.microsoft.com/office/drawing/2014/main" id="{57FFF5AC-CDC6-4F47-E030-87DF3E63F0D5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1345654" y="1386739"/>
            <a:ext cx="2603067" cy="4627675"/>
          </a:xfrm>
          <a:prstGeom prst="rect">
            <a:avLst/>
          </a:prstGeom>
        </p:spPr>
      </p:pic>
      <p:pic>
        <p:nvPicPr>
          <p:cNvPr id="56" name="p2p2p2p2p2p2p2p">
            <a:hlinkClick r:id="" action="ppaction://media"/>
            <a:extLst>
              <a:ext uri="{FF2B5EF4-FFF2-40B4-BE49-F238E27FC236}">
                <a16:creationId xmlns:a16="http://schemas.microsoft.com/office/drawing/2014/main" id="{48566A9A-2614-AE63-4E68-5890CE771A25}"/>
              </a:ext>
            </a:extLst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4460443" y="2482029"/>
            <a:ext cx="6830979" cy="2437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46850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750" fill="hold"/>
                                        <p:tgtEl>
                                          <p:spTgt spid="5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9750"/>
                            </p:stCondLst>
                            <p:childTnLst>
                              <p:par>
                                <p:cTn id="8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9" dur="20032" fill="hold"/>
                                        <p:tgtEl>
                                          <p:spTgt spid="5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0" repeatCount="indefinite" fill="hold" display="0">
                  <p:stCondLst>
                    <p:cond delay="indefinite"/>
                  </p:stCondLst>
                </p:cTn>
                <p:tgtEl>
                  <p:spTgt spid="55"/>
                </p:tgtEl>
              </p:cMediaNode>
            </p:video>
            <p:seq concurrent="1" nextAc="seek">
              <p:cTn id="11" restart="whenNotActive" fill="hold" evtFilter="cancelBubble" nodeType="interactiveSeq">
                <p:stCondLst>
                  <p:cond evt="onClick" delay="0">
                    <p:tgtEl>
                      <p:spTgt spid="5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" fill="hold">
                      <p:stCondLst>
                        <p:cond delay="0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5" dur="1" fill="hold"/>
                                        <p:tgtEl>
                                          <p:spTgt spid="5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5"/>
                  </p:tgtEl>
                </p:cond>
              </p:nextCondLst>
            </p:seq>
            <p:video>
              <p:cMediaNode vol="80000">
                <p:cTn id="16" fill="hold" display="0">
                  <p:stCondLst>
                    <p:cond delay="indefinite"/>
                  </p:stCondLst>
                </p:cTn>
                <p:tgtEl>
                  <p:spTgt spid="56"/>
                </p:tgtEl>
              </p:cMediaNode>
            </p:video>
            <p:seq concurrent="1" nextAc="seek">
              <p:cTn id="17" restart="whenNotActive" fill="hold" evtFilter="cancelBubble" nodeType="interactiveSeq">
                <p:stCondLst>
                  <p:cond evt="onClick" delay="0">
                    <p:tgtEl>
                      <p:spTgt spid="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1" dur="1" fill="hold"/>
                                        <p:tgtEl>
                                          <p:spTgt spid="5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6"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14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15000"/>
          </a:blip>
          <a:srcRect l="418" r="418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457200" y="733349"/>
            <a:ext cx="179588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A5B4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우리는 경고음이 아닌, 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2308078" y="765352"/>
            <a:ext cx="952215" cy="1837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A5B4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를 </a:t>
            </a:r>
            <a:r>
              <a:rPr lang="ko-KR" altLang="en-US" sz="1300" dirty="0">
                <a:solidFill>
                  <a:srgbClr val="A5B4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제공합니다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1992610" y="733349"/>
            <a:ext cx="45262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22D3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시야</a:t>
            </a:r>
            <a:endParaRPr lang="en-US" sz="130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rcRect l="15341" r="15341"/>
          <a:stretch/>
        </p:blipFill>
        <p:spPr>
          <a:xfrm>
            <a:off x="457200" y="1663294"/>
            <a:ext cx="5524805" cy="4448556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6210605" y="1218895"/>
            <a:ext cx="5524805" cy="5333695"/>
          </a:xfrm>
          <a:prstGeom prst="roundRect">
            <a:avLst>
              <a:gd name="adj" fmla="val 245"/>
            </a:avLst>
          </a:prstGeom>
          <a:solidFill>
            <a:srgbClr val="0A0A14">
              <a:alpha val="50000"/>
            </a:srgbClr>
          </a:solidFill>
          <a:ln w="12700">
            <a:solidFill>
              <a:srgbClr val="7C3AED">
                <a:alpha val="30000"/>
              </a:srgbClr>
            </a:solidFill>
            <a:prstDash val="solid"/>
          </a:ln>
          <a:effectLst>
            <a:outerShdw blurRad="139700" dist="12700" dir="16200000" algn="bl" rotWithShape="0">
              <a:srgbClr val="7C3AED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0"/>
          <p:cNvSpPr txBox="1"/>
          <p:nvPr/>
        </p:nvSpPr>
        <p:spPr>
          <a:xfrm>
            <a:off x="6448349" y="1457554"/>
            <a:ext cx="5010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PathGuard는 AR HoloLens를 통해 '보이지 </a:t>
            </a:r>
            <a:r>
              <a:rPr lang="en-US" sz="1200" dirty="0" err="1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않는</a:t>
            </a:r>
            <a:r>
              <a:rPr lang="en-US" sz="12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200" dirty="0" err="1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위험’을</a:t>
            </a:r>
            <a:r>
              <a:rPr lang="en-US" sz="12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</a:p>
          <a:p>
            <a:pPr marL="0" indent="0" algn="l">
              <a:buNone/>
            </a:pPr>
            <a:r>
              <a:rPr lang="en-US" sz="1200" dirty="0" err="1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운전자의</a:t>
            </a:r>
            <a:r>
              <a:rPr lang="en-US" sz="12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실제 시야 위에 직접 그려줍니다.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6448349" y="2066544"/>
            <a:ext cx="5048402" cy="647395"/>
          </a:xfrm>
          <a:prstGeom prst="roundRect">
            <a:avLst>
              <a:gd name="adj" fmla="val 12463"/>
            </a:avLst>
          </a:prstGeom>
          <a:solidFill>
            <a:srgbClr val="0A0A14">
              <a:alpha val="5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2"/>
          <p:cNvSpPr/>
          <p:nvPr/>
        </p:nvSpPr>
        <p:spPr>
          <a:xfrm>
            <a:off x="6448349" y="2066544"/>
            <a:ext cx="28346" cy="647395"/>
          </a:xfrm>
          <a:prstGeom prst="rect">
            <a:avLst/>
          </a:prstGeom>
          <a:solidFill>
            <a:srgbClr val="8B5CF6">
              <a:alpha val="6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3"/>
          <p:cNvSpPr/>
          <p:nvPr/>
        </p:nvSpPr>
        <p:spPr>
          <a:xfrm>
            <a:off x="6448349" y="2866644"/>
            <a:ext cx="5048402" cy="838505"/>
          </a:xfrm>
          <a:prstGeom prst="roundRect">
            <a:avLst>
              <a:gd name="adj" fmla="val 7435"/>
            </a:avLst>
          </a:prstGeom>
          <a:solidFill>
            <a:srgbClr val="0A0A14">
              <a:alpha val="5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4"/>
          <p:cNvSpPr/>
          <p:nvPr/>
        </p:nvSpPr>
        <p:spPr>
          <a:xfrm>
            <a:off x="6448349" y="2866644"/>
            <a:ext cx="28346" cy="838505"/>
          </a:xfrm>
          <a:prstGeom prst="rect">
            <a:avLst/>
          </a:prstGeom>
          <a:solidFill>
            <a:srgbClr val="8B5CF6">
              <a:alpha val="6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5"/>
          <p:cNvSpPr/>
          <p:nvPr/>
        </p:nvSpPr>
        <p:spPr>
          <a:xfrm>
            <a:off x="6448349" y="4657954"/>
            <a:ext cx="5048402" cy="838505"/>
          </a:xfrm>
          <a:prstGeom prst="roundRect">
            <a:avLst>
              <a:gd name="adj" fmla="val 7435"/>
            </a:avLst>
          </a:prstGeom>
          <a:solidFill>
            <a:srgbClr val="0A0A14">
              <a:alpha val="5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6"/>
          <p:cNvSpPr/>
          <p:nvPr/>
        </p:nvSpPr>
        <p:spPr>
          <a:xfrm>
            <a:off x="6448349" y="4657954"/>
            <a:ext cx="28346" cy="838505"/>
          </a:xfrm>
          <a:prstGeom prst="rect">
            <a:avLst/>
          </a:prstGeom>
          <a:solidFill>
            <a:srgbClr val="8B5CF6">
              <a:alpha val="6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7"/>
          <p:cNvSpPr/>
          <p:nvPr/>
        </p:nvSpPr>
        <p:spPr>
          <a:xfrm>
            <a:off x="6590995" y="2200046"/>
            <a:ext cx="381305" cy="381305"/>
          </a:xfrm>
          <a:prstGeom prst="ellipse">
            <a:avLst/>
          </a:prstGeom>
          <a:solidFill>
            <a:srgbClr val="8B5CF6">
              <a:alpha val="20000"/>
            </a:srgbClr>
          </a:solidFill>
          <a:ln w="12700">
            <a:solidFill>
              <a:srgbClr val="8B5CF6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rcRect l="-1282" r="-1282"/>
          <a:stretch/>
        </p:blipFill>
        <p:spPr>
          <a:xfrm>
            <a:off x="6672377" y="2295144"/>
            <a:ext cx="219456" cy="190195"/>
          </a:xfrm>
          <a:prstGeom prst="rect">
            <a:avLst/>
          </a:prstGeom>
        </p:spPr>
      </p:pic>
      <p:sp>
        <p:nvSpPr>
          <p:cNvPr id="23" name="Shape 18"/>
          <p:cNvSpPr/>
          <p:nvPr/>
        </p:nvSpPr>
        <p:spPr>
          <a:xfrm>
            <a:off x="6448349" y="3857854"/>
            <a:ext cx="5048402" cy="647395"/>
          </a:xfrm>
          <a:prstGeom prst="roundRect">
            <a:avLst>
              <a:gd name="adj" fmla="val 12463"/>
            </a:avLst>
          </a:prstGeom>
          <a:solidFill>
            <a:srgbClr val="0A0A14">
              <a:alpha val="5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19"/>
          <p:cNvSpPr/>
          <p:nvPr/>
        </p:nvSpPr>
        <p:spPr>
          <a:xfrm>
            <a:off x="6448349" y="3857854"/>
            <a:ext cx="28346" cy="647395"/>
          </a:xfrm>
          <a:prstGeom prst="rect">
            <a:avLst/>
          </a:prstGeom>
          <a:solidFill>
            <a:srgbClr val="8B5CF6">
              <a:alpha val="6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0"/>
          <p:cNvSpPr/>
          <p:nvPr/>
        </p:nvSpPr>
        <p:spPr>
          <a:xfrm>
            <a:off x="6590995" y="3095244"/>
            <a:ext cx="371246" cy="381305"/>
          </a:xfrm>
          <a:prstGeom prst="ellipse">
            <a:avLst/>
          </a:prstGeom>
          <a:solidFill>
            <a:srgbClr val="8B5CF6">
              <a:alpha val="20000"/>
            </a:srgbClr>
          </a:solidFill>
          <a:ln w="12700">
            <a:solidFill>
              <a:srgbClr val="8B5CF6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1"/>
          <p:cNvSpPr/>
          <p:nvPr/>
        </p:nvSpPr>
        <p:spPr>
          <a:xfrm>
            <a:off x="6590995" y="3991356"/>
            <a:ext cx="381305" cy="381305"/>
          </a:xfrm>
          <a:prstGeom prst="ellipse">
            <a:avLst/>
          </a:prstGeom>
          <a:solidFill>
            <a:srgbClr val="8B5CF6">
              <a:alpha val="20000"/>
            </a:srgbClr>
          </a:solidFill>
          <a:ln w="12700">
            <a:solidFill>
              <a:srgbClr val="8B5CF6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2"/>
          <p:cNvSpPr/>
          <p:nvPr/>
        </p:nvSpPr>
        <p:spPr>
          <a:xfrm>
            <a:off x="6590995" y="4886554"/>
            <a:ext cx="371246" cy="381305"/>
          </a:xfrm>
          <a:prstGeom prst="ellipse">
            <a:avLst/>
          </a:prstGeom>
          <a:solidFill>
            <a:srgbClr val="8B5CF6">
              <a:alpha val="20000"/>
            </a:srgbClr>
          </a:solidFill>
          <a:ln w="12700">
            <a:solidFill>
              <a:srgbClr val="8B5CF6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3"/>
          <p:cNvSpPr txBox="1"/>
          <p:nvPr/>
        </p:nvSpPr>
        <p:spPr>
          <a:xfrm>
            <a:off x="7125005" y="2180844"/>
            <a:ext cx="8668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084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확장된 시야</a:t>
            </a:r>
            <a:endParaRPr lang="en-US" sz="1200" dirty="0"/>
          </a:p>
        </p:txBody>
      </p:sp>
      <p:sp>
        <p:nvSpPr>
          <p:cNvPr id="29" name="Text 24"/>
          <p:cNvSpPr txBox="1"/>
          <p:nvPr/>
        </p:nvSpPr>
        <p:spPr>
          <a:xfrm>
            <a:off x="7112203" y="2980944"/>
            <a:ext cx="9628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084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3D 공간 인식</a:t>
            </a:r>
            <a:endParaRPr lang="en-US" sz="1200" dirty="0"/>
          </a:p>
        </p:txBody>
      </p:sp>
      <p:sp>
        <p:nvSpPr>
          <p:cNvPr id="30" name="Text 25"/>
          <p:cNvSpPr txBox="1"/>
          <p:nvPr/>
        </p:nvSpPr>
        <p:spPr>
          <a:xfrm>
            <a:off x="7125005" y="2409444"/>
            <a:ext cx="435803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전방 트럭 너머, 사각지대, 코너 뒤편의 위험 요소를 실시간으로 시각화합니다.</a:t>
            </a:r>
            <a:endParaRPr lang="en-US" sz="1000" dirty="0"/>
          </a:p>
        </p:txBody>
      </p:sp>
      <p:pic>
        <p:nvPicPr>
          <p:cNvPr id="31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680606" y="3191256"/>
            <a:ext cx="190195" cy="190195"/>
          </a:xfrm>
          <a:prstGeom prst="rect">
            <a:avLst/>
          </a:prstGeom>
        </p:spPr>
      </p:pic>
      <p:sp>
        <p:nvSpPr>
          <p:cNvPr id="32" name="Text 26"/>
          <p:cNvSpPr txBox="1"/>
          <p:nvPr/>
        </p:nvSpPr>
        <p:spPr>
          <a:xfrm>
            <a:off x="7125005" y="3972154"/>
            <a:ext cx="10479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084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맥락 인식 정보</a:t>
            </a:r>
            <a:endParaRPr lang="en-US" sz="1200" dirty="0"/>
          </a:p>
        </p:txBody>
      </p:sp>
      <p:sp>
        <p:nvSpPr>
          <p:cNvPr id="33" name="Text 27"/>
          <p:cNvSpPr txBox="1"/>
          <p:nvPr/>
        </p:nvSpPr>
        <p:spPr>
          <a:xfrm>
            <a:off x="7112203" y="3209544"/>
            <a:ext cx="4368089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위험 요소의 위치와 거리를 3D AR로 표현하여 직관적인 상황 인지가 가능합니다.</a:t>
            </a:r>
            <a:endParaRPr lang="en-US" sz="1000" dirty="0"/>
          </a:p>
        </p:txBody>
      </p:sp>
      <p:pic>
        <p:nvPicPr>
          <p:cNvPr id="34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6687007" y="4086454"/>
            <a:ext cx="190195" cy="190195"/>
          </a:xfrm>
          <a:prstGeom prst="rect">
            <a:avLst/>
          </a:prstGeom>
        </p:spPr>
      </p:pic>
      <p:sp>
        <p:nvSpPr>
          <p:cNvPr id="35" name="Text 28"/>
          <p:cNvSpPr txBox="1"/>
          <p:nvPr/>
        </p:nvSpPr>
        <p:spPr>
          <a:xfrm>
            <a:off x="7125005" y="4200754"/>
            <a:ext cx="411022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운전자의 시선, 차량 속도, 노면 상태에 맞춰 최적화된 정보만 표시합니다.</a:t>
            </a:r>
            <a:endParaRPr lang="en-US" sz="1000" dirty="0"/>
          </a:p>
        </p:txBody>
      </p:sp>
      <p:pic>
        <p:nvPicPr>
          <p:cNvPr id="36" name="Image 5" descr="preencoded.png"/>
          <p:cNvPicPr>
            <a:picLocks noChangeAspect="1"/>
          </p:cNvPicPr>
          <p:nvPr/>
        </p:nvPicPr>
        <p:blipFill>
          <a:blip r:embed="rId8"/>
          <a:srcRect l="-1282" r="-1282"/>
          <a:stretch/>
        </p:blipFill>
        <p:spPr>
          <a:xfrm>
            <a:off x="6665062" y="4981651"/>
            <a:ext cx="219456" cy="190195"/>
          </a:xfrm>
          <a:prstGeom prst="rect">
            <a:avLst/>
          </a:prstGeom>
        </p:spPr>
      </p:pic>
      <p:sp>
        <p:nvSpPr>
          <p:cNvPr id="37" name="Text 29"/>
          <p:cNvSpPr txBox="1"/>
          <p:nvPr/>
        </p:nvSpPr>
        <p:spPr>
          <a:xfrm>
            <a:off x="7111289" y="4772254"/>
            <a:ext cx="10003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084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네트워크 시야</a:t>
            </a:r>
            <a:endParaRPr lang="en-US" sz="1200" dirty="0"/>
          </a:p>
        </p:txBody>
      </p:sp>
      <p:sp>
        <p:nvSpPr>
          <p:cNvPr id="38" name="Text 30"/>
          <p:cNvSpPr txBox="1"/>
          <p:nvPr/>
        </p:nvSpPr>
        <p:spPr>
          <a:xfrm>
            <a:off x="7111289" y="5000854"/>
            <a:ext cx="4262933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주변 PathGuard 차량들이 인식한 모든 위험 요소가 내 HoloLens에 통합됩니다.</a:t>
            </a:r>
            <a:endParaRPr lang="en-US" sz="1000" dirty="0"/>
          </a:p>
        </p:txBody>
      </p:sp>
      <p:sp>
        <p:nvSpPr>
          <p:cNvPr id="39" name="Text 31"/>
          <p:cNvSpPr txBox="1"/>
          <p:nvPr/>
        </p:nvSpPr>
        <p:spPr>
          <a:xfrm>
            <a:off x="6838798" y="5899468"/>
            <a:ext cx="439643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2D3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"당신의 눈이 볼 수 있는 것보다 더 많은 것을 보여드립니다"</a:t>
            </a:r>
            <a:endParaRPr lang="en-US" sz="1300" dirty="0"/>
          </a:p>
        </p:txBody>
      </p:sp>
      <p:sp>
        <p:nvSpPr>
          <p:cNvPr id="40" name="Text 1">
            <a:extLst>
              <a:ext uri="{FF2B5EF4-FFF2-40B4-BE49-F238E27FC236}">
                <a16:creationId xmlns:a16="http://schemas.microsoft.com/office/drawing/2014/main" id="{E8A1CE4F-7410-1C09-4B44-100432EA5F81}"/>
              </a:ext>
            </a:extLst>
          </p:cNvPr>
          <p:cNvSpPr txBox="1"/>
          <p:nvPr/>
        </p:nvSpPr>
        <p:spPr>
          <a:xfrm>
            <a:off x="457200" y="346078"/>
            <a:ext cx="1438351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</a:t>
            </a:r>
            <a:r>
              <a:rPr lang="en-US" sz="1800" b="1" dirty="0" err="1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기술</a:t>
            </a: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3:</a:t>
            </a:r>
            <a:endParaRPr lang="en-US" sz="1800" dirty="0"/>
          </a:p>
        </p:txBody>
      </p:sp>
      <p:sp>
        <p:nvSpPr>
          <p:cNvPr id="42" name="Text 3">
            <a:extLst>
              <a:ext uri="{FF2B5EF4-FFF2-40B4-BE49-F238E27FC236}">
                <a16:creationId xmlns:a16="http://schemas.microsoft.com/office/drawing/2014/main" id="{382FE30F-CFA1-317F-3555-40FC2CD44CAC}"/>
              </a:ext>
            </a:extLst>
          </p:cNvPr>
          <p:cNvSpPr txBox="1"/>
          <p:nvPr/>
        </p:nvSpPr>
        <p:spPr>
          <a:xfrm>
            <a:off x="1722730" y="346078"/>
            <a:ext cx="3652834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 err="1">
                <a:solidFill>
                  <a:srgbClr val="3B82F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Hololens</a:t>
            </a:r>
            <a:r>
              <a:rPr lang="en-US" b="1" dirty="0">
                <a:solidFill>
                  <a:srgbClr val="3B82F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AR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9CFDA5-EAAE-C97B-AA22-64D1D2A8A6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2621F79-891A-8766-5588-B18711730FE4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14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EA68EEB6-7A1C-48DD-E01B-1313C8FF6E82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15000"/>
          </a:blip>
          <a:srcRect l="418" r="418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9967625C-6AF2-DB9E-F7DF-B569DA8A20AE}"/>
              </a:ext>
            </a:extLst>
          </p:cNvPr>
          <p:cNvSpPr txBox="1"/>
          <p:nvPr/>
        </p:nvSpPr>
        <p:spPr>
          <a:xfrm>
            <a:off x="457200" y="267005"/>
            <a:ext cx="3339389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PathGuard: </a:t>
            </a:r>
            <a:r>
              <a:rPr lang="en-US" sz="2200" b="1" dirty="0" err="1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운전자의</a:t>
            </a:r>
            <a:r>
              <a:rPr lang="en-US" sz="2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endParaRPr lang="en-US" sz="220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BC583FE5-B730-CDE2-3C0C-DF94BD0DA74F}"/>
              </a:ext>
            </a:extLst>
          </p:cNvPr>
          <p:cNvSpPr txBox="1"/>
          <p:nvPr/>
        </p:nvSpPr>
        <p:spPr>
          <a:xfrm>
            <a:off x="3796589" y="272753"/>
            <a:ext cx="805586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를</a:t>
            </a:r>
            <a:endParaRPr lang="en-US" sz="220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2BA20B40-6C7D-FC2D-71AA-5EA46104BF6E}"/>
              </a:ext>
            </a:extLst>
          </p:cNvPr>
          <p:cNvSpPr txBox="1"/>
          <p:nvPr/>
        </p:nvSpPr>
        <p:spPr>
          <a:xfrm>
            <a:off x="4976903" y="260909"/>
            <a:ext cx="1776679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 확장하다</a:t>
            </a:r>
            <a:endParaRPr lang="en-US" sz="22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F37D37E4-BE4E-EEF1-8FEE-B32BCA6AFAD2}"/>
              </a:ext>
            </a:extLst>
          </p:cNvPr>
          <p:cNvSpPr txBox="1"/>
          <p:nvPr/>
        </p:nvSpPr>
        <p:spPr>
          <a:xfrm>
            <a:off x="3260293" y="267005"/>
            <a:ext cx="767182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A78B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시야</a:t>
            </a:r>
            <a:endParaRPr lang="en-US" sz="220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B5C00949-97C6-68AB-1165-1932475E4C23}"/>
              </a:ext>
            </a:extLst>
          </p:cNvPr>
          <p:cNvSpPr txBox="1"/>
          <p:nvPr/>
        </p:nvSpPr>
        <p:spPr>
          <a:xfrm>
            <a:off x="4159430" y="260909"/>
            <a:ext cx="1034186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60A5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</a:t>
            </a:r>
            <a:endParaRPr lang="en-US" sz="2200" dirty="0"/>
          </a:p>
        </p:txBody>
      </p:sp>
      <p:pic>
        <p:nvPicPr>
          <p:cNvPr id="40" name="1031">
            <a:hlinkClick r:id="" action="ppaction://media"/>
            <a:extLst>
              <a:ext uri="{FF2B5EF4-FFF2-40B4-BE49-F238E27FC236}">
                <a16:creationId xmlns:a16="http://schemas.microsoft.com/office/drawing/2014/main" id="{1C2B4CCC-47E5-8C45-8C8D-4A6577B5C91E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329883" y="965216"/>
            <a:ext cx="9531927" cy="5361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93345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8738" fill="hold"/>
                                        <p:tgtEl>
                                          <p:spTgt spid="4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40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0"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91BAA8-778B-8438-6131-8ABB729350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8B192E7-250A-937F-DE55-502686F2554F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14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4F6641C8-197A-BD23-CA09-7E5F9BA7087A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5000"/>
          </a:blip>
          <a:srcRect l="418" r="418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5BF5DF35-2A2E-3538-E903-28FF69B71FD1}"/>
              </a:ext>
            </a:extLst>
          </p:cNvPr>
          <p:cNvSpPr txBox="1"/>
          <p:nvPr/>
        </p:nvSpPr>
        <p:spPr>
          <a:xfrm>
            <a:off x="457200" y="267005"/>
            <a:ext cx="3339389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PathGuard: </a:t>
            </a:r>
            <a:r>
              <a:rPr lang="en-US" sz="2200" b="1" dirty="0" err="1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운전자의</a:t>
            </a:r>
            <a:r>
              <a:rPr lang="en-US" sz="2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endParaRPr lang="en-US" sz="220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B4F2EE4A-DD7E-6866-F7BE-F1CC08B70B7F}"/>
              </a:ext>
            </a:extLst>
          </p:cNvPr>
          <p:cNvSpPr txBox="1"/>
          <p:nvPr/>
        </p:nvSpPr>
        <p:spPr>
          <a:xfrm>
            <a:off x="3796589" y="272753"/>
            <a:ext cx="805586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를</a:t>
            </a:r>
            <a:endParaRPr lang="en-US" sz="220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EDAD6BE5-A267-4A7B-1D9C-348641B922B9}"/>
              </a:ext>
            </a:extLst>
          </p:cNvPr>
          <p:cNvSpPr txBox="1"/>
          <p:nvPr/>
        </p:nvSpPr>
        <p:spPr>
          <a:xfrm>
            <a:off x="4976903" y="260909"/>
            <a:ext cx="1776679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 확장하다</a:t>
            </a:r>
            <a:endParaRPr lang="en-US" sz="22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18D2EDFD-4511-EC47-F9AA-250CAAA32A68}"/>
              </a:ext>
            </a:extLst>
          </p:cNvPr>
          <p:cNvSpPr txBox="1"/>
          <p:nvPr/>
        </p:nvSpPr>
        <p:spPr>
          <a:xfrm>
            <a:off x="3260293" y="267005"/>
            <a:ext cx="767182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A78B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시야</a:t>
            </a:r>
            <a:endParaRPr lang="en-US" sz="220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208319D9-6592-4E47-EBD9-6AA5A599ADFD}"/>
              </a:ext>
            </a:extLst>
          </p:cNvPr>
          <p:cNvSpPr txBox="1"/>
          <p:nvPr/>
        </p:nvSpPr>
        <p:spPr>
          <a:xfrm>
            <a:off x="4159430" y="260909"/>
            <a:ext cx="1034186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60A5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</a:t>
            </a:r>
            <a:endParaRPr lang="en-US" sz="2200" dirty="0"/>
          </a:p>
        </p:txBody>
      </p:sp>
      <p:pic>
        <p:nvPicPr>
          <p:cNvPr id="10" name="그림 9" descr="야외, 자동차, 장면, 나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0059676-8C74-08CA-5FC5-1AF1DF2229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88006" y="1213862"/>
            <a:ext cx="8615681" cy="4855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55635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259E3D-2449-0825-624C-C7C372A295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825DD2D-7715-C63F-2D54-DBC68707564D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14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995F1A74-3642-30A3-7CDE-29FB2731DE4F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0000"/>
          </a:blip>
          <a:srcRect l="389" r="389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94E84E50-5737-76FA-825F-4887E5511A90}"/>
              </a:ext>
            </a:extLst>
          </p:cNvPr>
          <p:cNvSpPr txBox="1"/>
          <p:nvPr/>
        </p:nvSpPr>
        <p:spPr>
          <a:xfrm>
            <a:off x="457200" y="267005"/>
            <a:ext cx="4105564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altLang="ko-KR" sz="2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Architecture</a:t>
            </a:r>
            <a:endParaRPr lang="en-US" sz="2200" dirty="0"/>
          </a:p>
        </p:txBody>
      </p:sp>
      <p:pic>
        <p:nvPicPr>
          <p:cNvPr id="10" name="그림 9" descr="스크린샷, 텍스트, 도표이(가) 표시된 사진">
            <a:extLst>
              <a:ext uri="{FF2B5EF4-FFF2-40B4-BE49-F238E27FC236}">
                <a16:creationId xmlns:a16="http://schemas.microsoft.com/office/drawing/2014/main" id="{927B9D5C-5F5E-FDC9-0555-9F4A7859C2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98222" y="476860"/>
            <a:ext cx="7395556" cy="5912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26162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0E10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15000"/>
          </a:blip>
          <a:srcRect t="7811" b="781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304495" y="248411"/>
            <a:ext cx="1000354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왜 지금,</a:t>
            </a:r>
            <a:endParaRPr 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2452421" y="248411"/>
            <a:ext cx="752551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인가?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1128370" y="248411"/>
            <a:ext cx="150510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A855F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PathGuard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304495" y="609599"/>
            <a:ext cx="44961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A5B4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P2P 네트워크는 '사고를 예방'하고, LLM은 '시선 분산을 제거'합니다.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04495" y="1294790"/>
            <a:ext cx="3762756" cy="4476902"/>
          </a:xfrm>
          <a:prstGeom prst="roundRect">
            <a:avLst>
              <a:gd name="adj" fmla="val 513"/>
            </a:avLst>
          </a:prstGeom>
          <a:solidFill>
            <a:srgbClr val="0E0E10">
              <a:alpha val="70000"/>
            </a:srgbClr>
          </a:solidFill>
          <a:ln w="12700">
            <a:solidFill>
              <a:srgbClr val="1D4ED8">
                <a:alpha val="60000"/>
              </a:srgbClr>
            </a:solidFill>
            <a:prstDash val="solid"/>
          </a:ln>
          <a:effectLst>
            <a:outerShdw blurRad="139700" dist="12700" dir="16200000" algn="bl" rotWithShape="0">
              <a:srgbClr val="1D4ED8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428854" y="1685239"/>
            <a:ext cx="3514954" cy="9144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537106" y="1466697"/>
            <a:ext cx="152705" cy="152705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765706" y="1418234"/>
            <a:ext cx="11914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0A5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시장성 및 필요성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428854" y="1771192"/>
            <a:ext cx="3514954" cy="666598"/>
          </a:xfrm>
          <a:prstGeom prst="roundRect">
            <a:avLst>
              <a:gd name="adj" fmla="val 11758"/>
            </a:avLst>
          </a:prstGeom>
          <a:solidFill>
            <a:srgbClr val="1D4ED8">
              <a:alpha val="20000"/>
            </a:srgbClr>
          </a:solidFill>
          <a:ln w="12700">
            <a:solidFill>
              <a:srgbClr val="1D4ED8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9"/>
          <p:cNvSpPr/>
          <p:nvPr/>
        </p:nvSpPr>
        <p:spPr>
          <a:xfrm>
            <a:off x="514807" y="1933041"/>
            <a:ext cx="342900" cy="342900"/>
          </a:xfrm>
          <a:prstGeom prst="ellipse">
            <a:avLst/>
          </a:prstGeom>
          <a:solidFill>
            <a:srgbClr val="1E3A8A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rcRect t="-180" b="-180"/>
          <a:stretch/>
        </p:blipFill>
        <p:spPr>
          <a:xfrm>
            <a:off x="590702" y="2028139"/>
            <a:ext cx="190195" cy="152705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428854" y="2513685"/>
            <a:ext cx="3514954" cy="590702"/>
          </a:xfrm>
          <a:prstGeom prst="roundRect">
            <a:avLst>
              <a:gd name="adj" fmla="val 14981"/>
            </a:avLst>
          </a:prstGeom>
          <a:solidFill>
            <a:srgbClr val="1D4ED8">
              <a:alpha val="20000"/>
            </a:srgbClr>
          </a:solidFill>
          <a:ln w="12700">
            <a:solidFill>
              <a:srgbClr val="1D4ED8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1"/>
          <p:cNvSpPr/>
          <p:nvPr/>
        </p:nvSpPr>
        <p:spPr>
          <a:xfrm>
            <a:off x="428854" y="3181197"/>
            <a:ext cx="3514954" cy="895198"/>
          </a:xfrm>
          <a:prstGeom prst="roundRect">
            <a:avLst>
              <a:gd name="adj" fmla="val 6520"/>
            </a:avLst>
          </a:prstGeom>
          <a:solidFill>
            <a:srgbClr val="1D4ED8">
              <a:alpha val="20000"/>
            </a:srgbClr>
          </a:solidFill>
          <a:ln w="12700">
            <a:solidFill>
              <a:srgbClr val="1D4ED8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2"/>
          <p:cNvSpPr/>
          <p:nvPr/>
        </p:nvSpPr>
        <p:spPr>
          <a:xfrm>
            <a:off x="514807" y="2638044"/>
            <a:ext cx="342900" cy="342900"/>
          </a:xfrm>
          <a:prstGeom prst="ellipse">
            <a:avLst/>
          </a:prstGeom>
          <a:solidFill>
            <a:srgbClr val="1E3A8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3"/>
          <p:cNvSpPr/>
          <p:nvPr/>
        </p:nvSpPr>
        <p:spPr>
          <a:xfrm>
            <a:off x="514807" y="3457346"/>
            <a:ext cx="342900" cy="342900"/>
          </a:xfrm>
          <a:prstGeom prst="ellipse">
            <a:avLst/>
          </a:prstGeom>
          <a:solidFill>
            <a:srgbClr val="1E3A8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4"/>
          <p:cNvSpPr txBox="1"/>
          <p:nvPr/>
        </p:nvSpPr>
        <p:spPr>
          <a:xfrm>
            <a:off x="972007" y="1857146"/>
            <a:ext cx="13240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한국 연간 교통사고</a:t>
            </a:r>
            <a:endParaRPr lang="en-US" sz="1200" dirty="0"/>
          </a:p>
        </p:txBody>
      </p:sp>
      <p:sp>
        <p:nvSpPr>
          <p:cNvPr id="20" name="Text 15"/>
          <p:cNvSpPr txBox="1"/>
          <p:nvPr/>
        </p:nvSpPr>
        <p:spPr>
          <a:xfrm>
            <a:off x="972007" y="3266236"/>
            <a:ext cx="10771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IIHS 연구 결과</a:t>
            </a:r>
            <a:endParaRPr lang="en-US" sz="1200" dirty="0"/>
          </a:p>
        </p:txBody>
      </p:sp>
      <p:sp>
        <p:nvSpPr>
          <p:cNvPr id="21" name="Text 16"/>
          <p:cNvSpPr txBox="1"/>
          <p:nvPr/>
        </p:nvSpPr>
        <p:spPr>
          <a:xfrm>
            <a:off x="972007" y="2075688"/>
            <a:ext cx="10003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60A5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약 20만 건</a:t>
            </a:r>
            <a:endParaRPr lang="en-US" sz="1500" dirty="0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rcRect t="-180" b="-180"/>
          <a:stretch/>
        </p:blipFill>
        <p:spPr>
          <a:xfrm>
            <a:off x="590702" y="2733141"/>
            <a:ext cx="190195" cy="152705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972007" y="2599639"/>
            <a:ext cx="13240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사각지대 사고 빈발</a:t>
            </a:r>
            <a:endParaRPr lang="en-US" sz="1200" dirty="0"/>
          </a:p>
        </p:txBody>
      </p:sp>
      <p:sp>
        <p:nvSpPr>
          <p:cNvPr id="24" name="Text 18"/>
          <p:cNvSpPr txBox="1"/>
          <p:nvPr/>
        </p:nvSpPr>
        <p:spPr>
          <a:xfrm>
            <a:off x="972007" y="2828239"/>
            <a:ext cx="164317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대형차, 교차로, 스쿨존 중심</a:t>
            </a:r>
            <a:endParaRPr lang="en-US" sz="1000" dirty="0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rcRect l="-33" r="-33"/>
          <a:stretch/>
        </p:blipFill>
        <p:spPr>
          <a:xfrm>
            <a:off x="599846" y="3552444"/>
            <a:ext cx="171907" cy="152705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972007" y="3504895"/>
            <a:ext cx="605333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사고율</a:t>
            </a:r>
            <a:endParaRPr lang="en-US" sz="1300" dirty="0"/>
          </a:p>
        </p:txBody>
      </p:sp>
      <p:sp>
        <p:nvSpPr>
          <p:cNvPr id="27" name="Text 20"/>
          <p:cNvSpPr txBox="1"/>
          <p:nvPr/>
        </p:nvSpPr>
        <p:spPr>
          <a:xfrm>
            <a:off x="972007" y="3761841"/>
            <a:ext cx="10387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B82F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14~23% 감소</a:t>
            </a:r>
            <a:endParaRPr lang="en-US" sz="1200" dirty="0"/>
          </a:p>
        </p:txBody>
      </p:sp>
      <p:sp>
        <p:nvSpPr>
          <p:cNvPr id="28" name="Shape 21"/>
          <p:cNvSpPr/>
          <p:nvPr/>
        </p:nvSpPr>
        <p:spPr>
          <a:xfrm>
            <a:off x="428854" y="4152290"/>
            <a:ext cx="3514954" cy="705002"/>
          </a:xfrm>
          <a:prstGeom prst="rect">
            <a:avLst/>
          </a:prstGeom>
          <a:solidFill>
            <a:srgbClr val="7C3AED">
              <a:alpha val="1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2"/>
          <p:cNvSpPr/>
          <p:nvPr/>
        </p:nvSpPr>
        <p:spPr>
          <a:xfrm>
            <a:off x="428854" y="4152290"/>
            <a:ext cx="28346" cy="705002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533095" y="4228185"/>
            <a:ext cx="133502" cy="133502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533095" y="4361688"/>
            <a:ext cx="23911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기존 ADAS는 내 차량 센서에만 의존</a:t>
            </a:r>
            <a:endParaRPr lang="en-US" sz="1200" dirty="0"/>
          </a:p>
        </p:txBody>
      </p:sp>
      <p:sp>
        <p:nvSpPr>
          <p:cNvPr id="32" name="Text 24"/>
          <p:cNvSpPr txBox="1"/>
          <p:nvPr/>
        </p:nvSpPr>
        <p:spPr>
          <a:xfrm>
            <a:off x="533095" y="4590288"/>
            <a:ext cx="152887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0A5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 시야 외 위험 감지 불가</a:t>
            </a:r>
            <a:endParaRPr lang="en-US" sz="1000" dirty="0"/>
          </a:p>
        </p:txBody>
      </p:sp>
      <p:sp>
        <p:nvSpPr>
          <p:cNvPr id="33" name="Shape 25"/>
          <p:cNvSpPr/>
          <p:nvPr/>
        </p:nvSpPr>
        <p:spPr>
          <a:xfrm>
            <a:off x="4216298" y="1294790"/>
            <a:ext cx="3762756" cy="4476902"/>
          </a:xfrm>
          <a:prstGeom prst="roundRect">
            <a:avLst>
              <a:gd name="adj" fmla="val 492"/>
            </a:avLst>
          </a:prstGeom>
          <a:solidFill>
            <a:srgbClr val="0E0E10">
              <a:alpha val="70000"/>
            </a:srgbClr>
          </a:solidFill>
          <a:ln w="12700">
            <a:solidFill>
              <a:srgbClr val="8B5CF6">
                <a:alpha val="60000"/>
              </a:srgbClr>
            </a:solidFill>
            <a:prstDash val="solid"/>
          </a:ln>
          <a:effectLst>
            <a:outerShdw blurRad="139700" dist="12700" dir="16200000" algn="bl" rotWithShape="0">
              <a:srgbClr val="8B5CF6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26"/>
          <p:cNvSpPr/>
          <p:nvPr/>
        </p:nvSpPr>
        <p:spPr>
          <a:xfrm>
            <a:off x="4340657" y="1685239"/>
            <a:ext cx="3514954" cy="9144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5" name="Image 6" descr="preencoded.png"/>
          <p:cNvPicPr>
            <a:picLocks noChangeAspect="1"/>
          </p:cNvPicPr>
          <p:nvPr/>
        </p:nvPicPr>
        <p:blipFill>
          <a:blip r:embed="rId9"/>
          <a:srcRect t="-100" b="-100"/>
          <a:stretch/>
        </p:blipFill>
        <p:spPr>
          <a:xfrm>
            <a:off x="5790895" y="1466697"/>
            <a:ext cx="114300" cy="152705"/>
          </a:xfrm>
          <a:prstGeom prst="rect">
            <a:avLst/>
          </a:prstGeom>
        </p:spPr>
      </p:pic>
      <p:sp>
        <p:nvSpPr>
          <p:cNvPr id="36" name="Text 27"/>
          <p:cNvSpPr txBox="1"/>
          <p:nvPr/>
        </p:nvSpPr>
        <p:spPr>
          <a:xfrm>
            <a:off x="5981090" y="1418234"/>
            <a:ext cx="5431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 err="1">
                <a:solidFill>
                  <a:srgbClr val="C084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솔루션</a:t>
            </a:r>
            <a:endParaRPr lang="en-US" sz="1200" dirty="0"/>
          </a:p>
        </p:txBody>
      </p:sp>
      <p:pic>
        <p:nvPicPr>
          <p:cNvPr id="48" name="Image 9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4340657" y="4361688"/>
            <a:ext cx="152705" cy="152705"/>
          </a:xfrm>
          <a:prstGeom prst="rect">
            <a:avLst/>
          </a:prstGeom>
        </p:spPr>
      </p:pic>
      <p:sp>
        <p:nvSpPr>
          <p:cNvPr id="49" name="Text 37"/>
          <p:cNvSpPr txBox="1"/>
          <p:nvPr/>
        </p:nvSpPr>
        <p:spPr>
          <a:xfrm>
            <a:off x="4569257" y="4342485"/>
            <a:ext cx="103418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실시간 시야 공유</a:t>
            </a:r>
            <a:endParaRPr lang="en-US" sz="1000" dirty="0"/>
          </a:p>
        </p:txBody>
      </p:sp>
      <p:pic>
        <p:nvPicPr>
          <p:cNvPr id="50" name="Image 10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4340657" y="4590288"/>
            <a:ext cx="152705" cy="152705"/>
          </a:xfrm>
          <a:prstGeom prst="rect">
            <a:avLst/>
          </a:prstGeom>
        </p:spPr>
      </p:pic>
      <p:sp>
        <p:nvSpPr>
          <p:cNvPr id="51" name="Text 38"/>
          <p:cNvSpPr txBox="1"/>
          <p:nvPr/>
        </p:nvSpPr>
        <p:spPr>
          <a:xfrm>
            <a:off x="4569257" y="4571085"/>
            <a:ext cx="149138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사각지대 위험 3D 시각화</a:t>
            </a:r>
            <a:endParaRPr lang="en-US" sz="1000" dirty="0"/>
          </a:p>
        </p:txBody>
      </p:sp>
      <p:pic>
        <p:nvPicPr>
          <p:cNvPr id="52" name="Image 11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4340657" y="4818888"/>
            <a:ext cx="152705" cy="152705"/>
          </a:xfrm>
          <a:prstGeom prst="rect">
            <a:avLst/>
          </a:prstGeom>
        </p:spPr>
      </p:pic>
      <p:sp>
        <p:nvSpPr>
          <p:cNvPr id="53" name="Text 39"/>
          <p:cNvSpPr txBox="1"/>
          <p:nvPr/>
        </p:nvSpPr>
        <p:spPr>
          <a:xfrm>
            <a:off x="4569257" y="4799685"/>
            <a:ext cx="24725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협력 인지(Cooperative Perception) 기술</a:t>
            </a:r>
            <a:endParaRPr lang="en-US" sz="1000" dirty="0"/>
          </a:p>
        </p:txBody>
      </p:sp>
      <p:sp>
        <p:nvSpPr>
          <p:cNvPr id="54" name="Shape 40"/>
          <p:cNvSpPr/>
          <p:nvPr/>
        </p:nvSpPr>
        <p:spPr>
          <a:xfrm>
            <a:off x="4340657" y="5056640"/>
            <a:ext cx="3514954" cy="342900"/>
          </a:xfrm>
          <a:prstGeom prst="rect">
            <a:avLst/>
          </a:prstGeom>
          <a:solidFill>
            <a:srgbClr val="7C3AED">
              <a:alpha val="1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5" name="Shape 41"/>
          <p:cNvSpPr/>
          <p:nvPr/>
        </p:nvSpPr>
        <p:spPr>
          <a:xfrm>
            <a:off x="4340657" y="5064683"/>
            <a:ext cx="28346" cy="34290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6" name="Text 42"/>
          <p:cNvSpPr txBox="1"/>
          <p:nvPr/>
        </p:nvSpPr>
        <p:spPr>
          <a:xfrm>
            <a:off x="4444898" y="5132535"/>
            <a:ext cx="176753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C084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타 차량이 보는 것을 내가 본다</a:t>
            </a:r>
            <a:endParaRPr lang="en-US" sz="1000" dirty="0"/>
          </a:p>
        </p:txBody>
      </p:sp>
      <p:sp>
        <p:nvSpPr>
          <p:cNvPr id="57" name="Shape 43"/>
          <p:cNvSpPr/>
          <p:nvPr/>
        </p:nvSpPr>
        <p:spPr>
          <a:xfrm>
            <a:off x="8128102" y="1294789"/>
            <a:ext cx="3762756" cy="4476901"/>
          </a:xfrm>
          <a:prstGeom prst="roundRect">
            <a:avLst>
              <a:gd name="adj" fmla="val 718"/>
            </a:avLst>
          </a:prstGeom>
          <a:solidFill>
            <a:srgbClr val="0E0E10">
              <a:alpha val="70000"/>
            </a:srgbClr>
          </a:solidFill>
          <a:ln w="12700">
            <a:solidFill>
              <a:srgbClr val="DB2777">
                <a:alpha val="60000"/>
              </a:srgbClr>
            </a:solidFill>
            <a:prstDash val="solid"/>
          </a:ln>
          <a:effectLst>
            <a:outerShdw blurRad="139700" dist="12700" dir="16200000" algn="bl" rotWithShape="0">
              <a:srgbClr val="DB2777">
                <a:alpha val="20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58" name="Shape 44"/>
          <p:cNvSpPr/>
          <p:nvPr/>
        </p:nvSpPr>
        <p:spPr>
          <a:xfrm>
            <a:off x="8186013" y="1689811"/>
            <a:ext cx="3514954" cy="9144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0" name="Text 45"/>
          <p:cNvSpPr txBox="1"/>
          <p:nvPr/>
        </p:nvSpPr>
        <p:spPr>
          <a:xfrm>
            <a:off x="9464497" y="1400479"/>
            <a:ext cx="11622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C489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시장성 &amp; 타겟층</a:t>
            </a:r>
            <a:endParaRPr lang="en-US" sz="1200" dirty="0"/>
          </a:p>
        </p:txBody>
      </p:sp>
      <p:sp>
        <p:nvSpPr>
          <p:cNvPr id="61" name="Shape 46"/>
          <p:cNvSpPr/>
          <p:nvPr/>
        </p:nvSpPr>
        <p:spPr>
          <a:xfrm>
            <a:off x="8289950" y="2280134"/>
            <a:ext cx="1686154" cy="809244"/>
          </a:xfrm>
          <a:prstGeom prst="roundRect">
            <a:avLst>
              <a:gd name="adj" fmla="val 5317"/>
            </a:avLst>
          </a:prstGeom>
          <a:solidFill>
            <a:srgbClr val="1D4ED8">
              <a:alpha val="70000"/>
            </a:srgbClr>
          </a:solidFill>
          <a:ln/>
          <a:effectLst>
            <a:outerShdw blurRad="101600" dist="12700" dir="16200000" algn="bl" rotWithShape="0">
              <a:srgbClr val="1D4ED8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2" name="Text 47"/>
          <p:cNvSpPr txBox="1"/>
          <p:nvPr/>
        </p:nvSpPr>
        <p:spPr>
          <a:xfrm>
            <a:off x="8866937" y="3117724"/>
            <a:ext cx="61996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ADAS 시장</a:t>
            </a:r>
            <a:endParaRPr lang="en-US" sz="900" dirty="0"/>
          </a:p>
        </p:txBody>
      </p:sp>
      <p:sp>
        <p:nvSpPr>
          <p:cNvPr id="63" name="Text 48"/>
          <p:cNvSpPr txBox="1"/>
          <p:nvPr/>
        </p:nvSpPr>
        <p:spPr>
          <a:xfrm>
            <a:off x="10676534" y="3117724"/>
            <a:ext cx="50566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AR HUD</a:t>
            </a:r>
            <a:endParaRPr lang="en-US" sz="900" dirty="0"/>
          </a:p>
        </p:txBody>
      </p:sp>
      <p:sp>
        <p:nvSpPr>
          <p:cNvPr id="64" name="Text 49"/>
          <p:cNvSpPr txBox="1"/>
          <p:nvPr/>
        </p:nvSpPr>
        <p:spPr>
          <a:xfrm>
            <a:off x="8923630" y="3270429"/>
            <a:ext cx="50566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0A5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300조원</a:t>
            </a:r>
            <a:endParaRPr lang="en-US" sz="900" dirty="0"/>
          </a:p>
        </p:txBody>
      </p:sp>
      <p:sp>
        <p:nvSpPr>
          <p:cNvPr id="65" name="Text 50"/>
          <p:cNvSpPr txBox="1"/>
          <p:nvPr/>
        </p:nvSpPr>
        <p:spPr>
          <a:xfrm>
            <a:off x="8911742" y="3423134"/>
            <a:ext cx="52395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(2030년)</a:t>
            </a:r>
            <a:endParaRPr lang="en-US" sz="900" dirty="0"/>
          </a:p>
        </p:txBody>
      </p:sp>
      <p:sp>
        <p:nvSpPr>
          <p:cNvPr id="66" name="Text 51"/>
          <p:cNvSpPr txBox="1"/>
          <p:nvPr/>
        </p:nvSpPr>
        <p:spPr>
          <a:xfrm>
            <a:off x="10689336" y="3423134"/>
            <a:ext cx="48646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(연평균)</a:t>
            </a:r>
            <a:endParaRPr lang="en-US" sz="900" dirty="0"/>
          </a:p>
        </p:txBody>
      </p:sp>
      <p:sp>
        <p:nvSpPr>
          <p:cNvPr id="67" name="Shape 52"/>
          <p:cNvSpPr/>
          <p:nvPr/>
        </p:nvSpPr>
        <p:spPr>
          <a:xfrm>
            <a:off x="10045598" y="2517878"/>
            <a:ext cx="1686154" cy="571500"/>
          </a:xfrm>
          <a:prstGeom prst="roundRect">
            <a:avLst>
              <a:gd name="adj" fmla="val 10667"/>
            </a:avLst>
          </a:prstGeom>
          <a:solidFill>
            <a:srgbClr val="DB2777">
              <a:alpha val="70000"/>
            </a:srgbClr>
          </a:solidFill>
          <a:ln/>
          <a:effectLst>
            <a:outerShdw blurRad="101600" dist="12700" dir="16200000" algn="bl" rotWithShape="0">
              <a:srgbClr val="DB2777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8" name="Text 53"/>
          <p:cNvSpPr txBox="1"/>
          <p:nvPr/>
        </p:nvSpPr>
        <p:spPr>
          <a:xfrm>
            <a:off x="10641787" y="3270429"/>
            <a:ext cx="58155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C489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44% 성장</a:t>
            </a:r>
            <a:endParaRPr lang="en-US" sz="900" dirty="0"/>
          </a:p>
        </p:txBody>
      </p:sp>
      <p:sp>
        <p:nvSpPr>
          <p:cNvPr id="69" name="Shape 54"/>
          <p:cNvSpPr/>
          <p:nvPr/>
        </p:nvSpPr>
        <p:spPr>
          <a:xfrm>
            <a:off x="8251546" y="3737687"/>
            <a:ext cx="3514954" cy="286207"/>
          </a:xfrm>
          <a:prstGeom prst="roundRect">
            <a:avLst>
              <a:gd name="adj" fmla="val 42599"/>
            </a:avLst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0" name="Shape 55"/>
          <p:cNvSpPr/>
          <p:nvPr/>
        </p:nvSpPr>
        <p:spPr>
          <a:xfrm>
            <a:off x="8251546" y="3737687"/>
            <a:ext cx="38405" cy="286207"/>
          </a:xfrm>
          <a:prstGeom prst="rect">
            <a:avLst/>
          </a:prstGeom>
          <a:solidFill>
            <a:srgbClr val="60A5FA">
              <a:alpha val="7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1" name="Shape 56"/>
          <p:cNvSpPr/>
          <p:nvPr/>
        </p:nvSpPr>
        <p:spPr>
          <a:xfrm>
            <a:off x="8365846" y="3775178"/>
            <a:ext cx="209398" cy="209398"/>
          </a:xfrm>
          <a:prstGeom prst="ellipse">
            <a:avLst/>
          </a:prstGeom>
          <a:solidFill>
            <a:srgbClr val="1E3A8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2" name="Text 57"/>
          <p:cNvSpPr txBox="1"/>
          <p:nvPr/>
        </p:nvSpPr>
        <p:spPr>
          <a:xfrm>
            <a:off x="8437169" y="3794380"/>
            <a:ext cx="16276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0A5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900" dirty="0"/>
          </a:p>
        </p:txBody>
      </p:sp>
      <p:sp>
        <p:nvSpPr>
          <p:cNvPr id="73" name="Text 58"/>
          <p:cNvSpPr txBox="1"/>
          <p:nvPr/>
        </p:nvSpPr>
        <p:spPr>
          <a:xfrm>
            <a:off x="8690458" y="3785236"/>
            <a:ext cx="148132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물류·택시·렌터카 등 플릿</a:t>
            </a:r>
            <a:endParaRPr lang="en-US" sz="1000" dirty="0"/>
          </a:p>
        </p:txBody>
      </p:sp>
      <p:sp>
        <p:nvSpPr>
          <p:cNvPr id="74" name="Shape 59"/>
          <p:cNvSpPr/>
          <p:nvPr/>
        </p:nvSpPr>
        <p:spPr>
          <a:xfrm>
            <a:off x="8251546" y="4084245"/>
            <a:ext cx="3514954" cy="286207"/>
          </a:xfrm>
          <a:prstGeom prst="roundRect">
            <a:avLst>
              <a:gd name="adj" fmla="val 42599"/>
            </a:avLst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5" name="Shape 60"/>
          <p:cNvSpPr/>
          <p:nvPr/>
        </p:nvSpPr>
        <p:spPr>
          <a:xfrm>
            <a:off x="8251546" y="4084245"/>
            <a:ext cx="38405" cy="286207"/>
          </a:xfrm>
          <a:prstGeom prst="rect">
            <a:avLst/>
          </a:prstGeom>
          <a:solidFill>
            <a:srgbClr val="9333EA">
              <a:alpha val="7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6" name="Shape 61"/>
          <p:cNvSpPr/>
          <p:nvPr/>
        </p:nvSpPr>
        <p:spPr>
          <a:xfrm>
            <a:off x="8365846" y="4121735"/>
            <a:ext cx="209398" cy="209398"/>
          </a:xfrm>
          <a:prstGeom prst="ellipse">
            <a:avLst/>
          </a:prstGeom>
          <a:solidFill>
            <a:srgbClr val="581C8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7" name="Text 62"/>
          <p:cNvSpPr txBox="1"/>
          <p:nvPr/>
        </p:nvSpPr>
        <p:spPr>
          <a:xfrm>
            <a:off x="8437169" y="4140938"/>
            <a:ext cx="16276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C084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900" dirty="0"/>
          </a:p>
        </p:txBody>
      </p:sp>
      <p:sp>
        <p:nvSpPr>
          <p:cNvPr id="78" name="Text 63"/>
          <p:cNvSpPr txBox="1"/>
          <p:nvPr/>
        </p:nvSpPr>
        <p:spPr>
          <a:xfrm>
            <a:off x="8690458" y="4131794"/>
            <a:ext cx="165323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지자체·공공(스쿨존, 군부대)</a:t>
            </a:r>
            <a:endParaRPr lang="en-US" sz="1000" dirty="0"/>
          </a:p>
        </p:txBody>
      </p:sp>
      <p:sp>
        <p:nvSpPr>
          <p:cNvPr id="79" name="Shape 64"/>
          <p:cNvSpPr/>
          <p:nvPr/>
        </p:nvSpPr>
        <p:spPr>
          <a:xfrm>
            <a:off x="8251546" y="4430802"/>
            <a:ext cx="3514954" cy="286207"/>
          </a:xfrm>
          <a:prstGeom prst="roundRect">
            <a:avLst>
              <a:gd name="adj" fmla="val 42599"/>
            </a:avLst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0" name="Shape 65"/>
          <p:cNvSpPr/>
          <p:nvPr/>
        </p:nvSpPr>
        <p:spPr>
          <a:xfrm>
            <a:off x="8251546" y="4430802"/>
            <a:ext cx="38405" cy="286207"/>
          </a:xfrm>
          <a:prstGeom prst="rect">
            <a:avLst/>
          </a:prstGeom>
          <a:solidFill>
            <a:srgbClr val="DB2777">
              <a:alpha val="7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1" name="Shape 66"/>
          <p:cNvSpPr/>
          <p:nvPr/>
        </p:nvSpPr>
        <p:spPr>
          <a:xfrm>
            <a:off x="8365846" y="4468293"/>
            <a:ext cx="209398" cy="209398"/>
          </a:xfrm>
          <a:prstGeom prst="ellipse">
            <a:avLst/>
          </a:prstGeom>
          <a:solidFill>
            <a:srgbClr val="83184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2" name="Text 67"/>
          <p:cNvSpPr txBox="1"/>
          <p:nvPr/>
        </p:nvSpPr>
        <p:spPr>
          <a:xfrm>
            <a:off x="8437169" y="4487495"/>
            <a:ext cx="16276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EC489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900" dirty="0"/>
          </a:p>
        </p:txBody>
      </p:sp>
      <p:sp>
        <p:nvSpPr>
          <p:cNvPr id="83" name="Text 68"/>
          <p:cNvSpPr txBox="1"/>
          <p:nvPr/>
        </p:nvSpPr>
        <p:spPr>
          <a:xfrm>
            <a:off x="8690458" y="4478351"/>
            <a:ext cx="111922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OEM·HUD·부품사</a:t>
            </a:r>
            <a:endParaRPr lang="en-US" sz="1000" dirty="0"/>
          </a:p>
        </p:txBody>
      </p:sp>
      <p:sp>
        <p:nvSpPr>
          <p:cNvPr id="84" name="Shape 69"/>
          <p:cNvSpPr/>
          <p:nvPr/>
        </p:nvSpPr>
        <p:spPr>
          <a:xfrm>
            <a:off x="8251546" y="4777360"/>
            <a:ext cx="3514954" cy="286207"/>
          </a:xfrm>
          <a:prstGeom prst="roundRect">
            <a:avLst>
              <a:gd name="adj" fmla="val 42599"/>
            </a:avLst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5" name="Shape 70"/>
          <p:cNvSpPr/>
          <p:nvPr/>
        </p:nvSpPr>
        <p:spPr>
          <a:xfrm>
            <a:off x="8251546" y="4777360"/>
            <a:ext cx="38405" cy="286207"/>
          </a:xfrm>
          <a:prstGeom prst="rect">
            <a:avLst/>
          </a:prstGeom>
          <a:solidFill>
            <a:srgbClr val="F59E0B">
              <a:alpha val="7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6" name="Shape 71"/>
          <p:cNvSpPr/>
          <p:nvPr/>
        </p:nvSpPr>
        <p:spPr>
          <a:xfrm>
            <a:off x="8365846" y="4814850"/>
            <a:ext cx="209398" cy="209398"/>
          </a:xfrm>
          <a:prstGeom prst="ellipse">
            <a:avLst/>
          </a:prstGeom>
          <a:solidFill>
            <a:srgbClr val="78350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7" name="Text 72"/>
          <p:cNvSpPr txBox="1"/>
          <p:nvPr/>
        </p:nvSpPr>
        <p:spPr>
          <a:xfrm>
            <a:off x="8437169" y="4834053"/>
            <a:ext cx="16276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59E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900" dirty="0"/>
          </a:p>
        </p:txBody>
      </p:sp>
      <p:sp>
        <p:nvSpPr>
          <p:cNvPr id="88" name="Text 73"/>
          <p:cNvSpPr txBox="1"/>
          <p:nvPr/>
        </p:nvSpPr>
        <p:spPr>
          <a:xfrm>
            <a:off x="8690458" y="4824909"/>
            <a:ext cx="115763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개인 운전자·보험사</a:t>
            </a:r>
            <a:endParaRPr lang="en-US" sz="1000" dirty="0"/>
          </a:p>
        </p:txBody>
      </p:sp>
      <p:pic>
        <p:nvPicPr>
          <p:cNvPr id="100" name="그림 99" descr="텍스트, 야외, 간판, 거리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DA20300-07B1-735B-E37B-20C15ACC1ED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674870" y="2017548"/>
            <a:ext cx="2900019" cy="193334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14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15000"/>
          </a:blip>
          <a:srcRect l="418" r="418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304495"/>
            <a:ext cx="528614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</a:rPr>
              <a:t>왜 </a:t>
            </a:r>
            <a:r>
              <a:rPr lang="en-US" altLang="ko-KR" sz="2200" b="1" dirty="0" err="1">
                <a:solidFill>
                  <a:srgbClr val="65ADFF"/>
                </a:solidFill>
                <a:latin typeface="Noto Sans KR" pitchFamily="34" charset="0"/>
                <a:ea typeface="Noto Sans KR" pitchFamily="34" charset="-122"/>
              </a:rPr>
              <a:t>PathGuard</a:t>
            </a:r>
            <a:r>
              <a:rPr lang="ko-KR" altLang="en-US" sz="2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</a:rPr>
              <a:t>인가</a:t>
            </a:r>
            <a:r>
              <a:rPr lang="en-US" altLang="ko-KR" sz="2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</a:rPr>
              <a:t>?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733349"/>
            <a:ext cx="3948379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A5B4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PathGuard는 유일한 'AR + Network' 솔루션입니다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57200" y="1218895"/>
            <a:ext cx="5524805" cy="4229100"/>
          </a:xfrm>
          <a:prstGeom prst="roundRect">
            <a:avLst>
              <a:gd name="adj" fmla="val 390"/>
            </a:avLst>
          </a:prstGeom>
          <a:solidFill>
            <a:srgbClr val="0A0A14">
              <a:alpha val="50000"/>
            </a:srgbClr>
          </a:solidFill>
          <a:ln w="12700">
            <a:solidFill>
              <a:srgbClr val="7C3AED">
                <a:alpha val="60000"/>
              </a:srgbClr>
            </a:solidFill>
            <a:prstDash val="solid"/>
          </a:ln>
          <a:effectLst>
            <a:outerShdw blurRad="139700" dist="12700" dir="16200000" algn="bl" rotWithShape="0">
              <a:srgbClr val="7C3AED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694944" y="1800454"/>
            <a:ext cx="5048402" cy="9144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rcRect l="-1282" r="-1282"/>
          <a:stretch/>
        </p:blipFill>
        <p:spPr>
          <a:xfrm>
            <a:off x="2404872" y="1500530"/>
            <a:ext cx="219456" cy="190195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2700223" y="1447495"/>
            <a:ext cx="1476756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A78B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차별화 요소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694944" y="1962302"/>
            <a:ext cx="5048402" cy="981151"/>
          </a:xfrm>
          <a:prstGeom prst="roundRect">
            <a:avLst>
              <a:gd name="adj" fmla="val 7239"/>
            </a:avLst>
          </a:prstGeom>
          <a:solidFill>
            <a:srgbClr val="0A0A14">
              <a:alpha val="60000"/>
            </a:srgbClr>
          </a:solidFill>
          <a:ln w="12700">
            <a:solidFill>
              <a:srgbClr val="7C3AED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9"/>
          <p:cNvSpPr/>
          <p:nvPr/>
        </p:nvSpPr>
        <p:spPr>
          <a:xfrm>
            <a:off x="857707" y="2124151"/>
            <a:ext cx="381305" cy="381305"/>
          </a:xfrm>
          <a:prstGeom prst="ellipse">
            <a:avLst/>
          </a:prstGeom>
          <a:solidFill>
            <a:srgbClr val="8B5CF6">
              <a:alpha val="20000"/>
            </a:srgbClr>
          </a:solidFill>
          <a:ln w="12700">
            <a:solidFill>
              <a:srgbClr val="8B5CF6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929030" y="2219249"/>
            <a:ext cx="237744" cy="190195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694944" y="3093415"/>
            <a:ext cx="5048402" cy="981151"/>
          </a:xfrm>
          <a:prstGeom prst="roundRect">
            <a:avLst>
              <a:gd name="adj" fmla="val 7239"/>
            </a:avLst>
          </a:prstGeom>
          <a:solidFill>
            <a:srgbClr val="0A0A14">
              <a:alpha val="60000"/>
            </a:srgbClr>
          </a:solidFill>
          <a:ln w="12700">
            <a:solidFill>
              <a:srgbClr val="7C3AED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1"/>
          <p:cNvSpPr/>
          <p:nvPr/>
        </p:nvSpPr>
        <p:spPr>
          <a:xfrm>
            <a:off x="694944" y="4225442"/>
            <a:ext cx="5048402" cy="981151"/>
          </a:xfrm>
          <a:prstGeom prst="roundRect">
            <a:avLst>
              <a:gd name="adj" fmla="val 7239"/>
            </a:avLst>
          </a:prstGeom>
          <a:solidFill>
            <a:srgbClr val="0A0A14">
              <a:alpha val="60000"/>
            </a:srgbClr>
          </a:solidFill>
          <a:ln w="12700">
            <a:solidFill>
              <a:srgbClr val="7C3AED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2"/>
          <p:cNvSpPr/>
          <p:nvPr/>
        </p:nvSpPr>
        <p:spPr>
          <a:xfrm>
            <a:off x="857707" y="3255264"/>
            <a:ext cx="381305" cy="381305"/>
          </a:xfrm>
          <a:prstGeom prst="ellipse">
            <a:avLst/>
          </a:prstGeom>
          <a:solidFill>
            <a:srgbClr val="8B5CF6">
              <a:alpha val="20000"/>
            </a:srgbClr>
          </a:solidFill>
          <a:ln w="12700">
            <a:solidFill>
              <a:srgbClr val="8B5CF6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3"/>
          <p:cNvSpPr/>
          <p:nvPr/>
        </p:nvSpPr>
        <p:spPr>
          <a:xfrm>
            <a:off x="857707" y="4387291"/>
            <a:ext cx="381305" cy="381305"/>
          </a:xfrm>
          <a:prstGeom prst="ellipse">
            <a:avLst/>
          </a:prstGeom>
          <a:solidFill>
            <a:srgbClr val="8B5CF6">
              <a:alpha val="20000"/>
            </a:srgbClr>
          </a:solidFill>
          <a:ln w="12700">
            <a:solidFill>
              <a:srgbClr val="8B5CF6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4"/>
          <p:cNvSpPr txBox="1"/>
          <p:nvPr/>
        </p:nvSpPr>
        <p:spPr>
          <a:xfrm>
            <a:off x="1390802" y="2124151"/>
            <a:ext cx="17913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084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차량간 시야 공유 네트워크</a:t>
            </a:r>
            <a:endParaRPr lang="en-US" sz="1200" dirty="0"/>
          </a:p>
        </p:txBody>
      </p:sp>
      <p:sp>
        <p:nvSpPr>
          <p:cNvPr id="20" name="Text 15"/>
          <p:cNvSpPr txBox="1"/>
          <p:nvPr/>
        </p:nvSpPr>
        <p:spPr>
          <a:xfrm>
            <a:off x="1390802" y="4387291"/>
            <a:ext cx="11914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084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실시간 처리 속도</a:t>
            </a:r>
            <a:endParaRPr lang="en-US" sz="1200" dirty="0"/>
          </a:p>
        </p:txBody>
      </p:sp>
      <p:sp>
        <p:nvSpPr>
          <p:cNvPr id="21" name="Text 16"/>
          <p:cNvSpPr txBox="1"/>
          <p:nvPr/>
        </p:nvSpPr>
        <p:spPr>
          <a:xfrm>
            <a:off x="1390802" y="2398471"/>
            <a:ext cx="4148633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PathGuard는 차량간 V2V 네트워크를 통해 각 차량이 인식한 위험 </a:t>
            </a:r>
            <a:r>
              <a:rPr lang="en-US" sz="1000" dirty="0" err="1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요소를</a:t>
            </a:r>
            <a:r>
              <a:rPr lang="en-US" sz="10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</a:p>
          <a:p>
            <a:pPr marL="0" indent="0" algn="l">
              <a:buNone/>
            </a:pPr>
            <a:r>
              <a:rPr lang="en-US" sz="1000" dirty="0" err="1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즉시</a:t>
            </a:r>
            <a:r>
              <a:rPr lang="en-US" sz="10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공유하여, 하나의 차량이 아닌 도로 전체의 시야를 확보합니다.</a:t>
            </a:r>
            <a:endParaRPr lang="en-US" sz="1000" dirty="0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rcRect l="-1282" r="-1282"/>
          <a:stretch/>
        </p:blipFill>
        <p:spPr>
          <a:xfrm>
            <a:off x="938174" y="3351276"/>
            <a:ext cx="219456" cy="190195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1390802" y="3255264"/>
            <a:ext cx="1028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084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3D AR 시각화</a:t>
            </a:r>
            <a:endParaRPr lang="en-US" sz="1200" dirty="0"/>
          </a:p>
        </p:txBody>
      </p:sp>
      <p:sp>
        <p:nvSpPr>
          <p:cNvPr id="24" name="Text 18"/>
          <p:cNvSpPr txBox="1"/>
          <p:nvPr/>
        </p:nvSpPr>
        <p:spPr>
          <a:xfrm>
            <a:off x="1390802" y="3529584"/>
            <a:ext cx="4282135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2D 화면이나 경고음이 아닌, 실제 도로 위에 AR로 위험을 </a:t>
            </a:r>
            <a:r>
              <a:rPr lang="en-US" sz="1000" dirty="0" err="1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투영하여</a:t>
            </a:r>
            <a:r>
              <a:rPr lang="en-US" sz="10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</a:p>
          <a:p>
            <a:pPr marL="0" indent="0" algn="l">
              <a:buNone/>
            </a:pPr>
            <a:r>
              <a:rPr lang="en-US" sz="1000" dirty="0" err="1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직관적인</a:t>
            </a:r>
            <a:r>
              <a:rPr lang="en-US" sz="10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상황 인지가 가능합니다.</a:t>
            </a:r>
            <a:endParaRPr lang="en-US" sz="1000" dirty="0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rcRect l="-1648" r="-1648"/>
          <a:stretch/>
        </p:blipFill>
        <p:spPr>
          <a:xfrm>
            <a:off x="961949" y="4482389"/>
            <a:ext cx="171907" cy="190195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1390802" y="4661611"/>
            <a:ext cx="4157777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중앙 서버 의존 없이 차량간 직접 통신으로 밀리초 단위의 </a:t>
            </a:r>
            <a:r>
              <a:rPr lang="en-US" sz="1000" dirty="0" err="1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지연만으로</a:t>
            </a:r>
            <a:r>
              <a:rPr lang="en-US" sz="10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</a:p>
          <a:p>
            <a:pPr marL="0" indent="0" algn="l">
              <a:buNone/>
            </a:pPr>
            <a:r>
              <a:rPr lang="en-US" sz="1000" dirty="0" err="1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위험</a:t>
            </a:r>
            <a:r>
              <a:rPr lang="en-US" sz="10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정보를 전달합니다.</a:t>
            </a:r>
            <a:endParaRPr lang="en-US" sz="1000" dirty="0"/>
          </a:p>
        </p:txBody>
      </p:sp>
      <p:sp>
        <p:nvSpPr>
          <p:cNvPr id="27" name="Shape 20"/>
          <p:cNvSpPr/>
          <p:nvPr/>
        </p:nvSpPr>
        <p:spPr>
          <a:xfrm>
            <a:off x="6210605" y="1218895"/>
            <a:ext cx="5524805" cy="4686300"/>
          </a:xfrm>
          <a:prstGeom prst="roundRect">
            <a:avLst>
              <a:gd name="adj" fmla="val 317"/>
            </a:avLst>
          </a:prstGeom>
          <a:solidFill>
            <a:srgbClr val="0A0A14">
              <a:alpha val="50000"/>
            </a:srgbClr>
          </a:solidFill>
          <a:ln w="12700">
            <a:solidFill>
              <a:srgbClr val="3B82F6">
                <a:alpha val="60000"/>
              </a:srgbClr>
            </a:solidFill>
            <a:prstDash val="solid"/>
          </a:ln>
          <a:effectLst>
            <a:outerShdw blurRad="139700" dist="12700" dir="16200000" algn="bl" rotWithShape="0">
              <a:srgbClr val="3B82F6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1"/>
          <p:cNvSpPr/>
          <p:nvPr/>
        </p:nvSpPr>
        <p:spPr>
          <a:xfrm>
            <a:off x="6448349" y="1800454"/>
            <a:ext cx="5048402" cy="9144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9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8350301" y="1500530"/>
            <a:ext cx="237744" cy="190195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8664854" y="1447495"/>
            <a:ext cx="1077163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60A5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경쟁사 비교</a:t>
            </a:r>
            <a:endParaRPr lang="en-US" sz="1500" dirty="0"/>
          </a:p>
        </p:txBody>
      </p:sp>
      <p:sp>
        <p:nvSpPr>
          <p:cNvPr id="31" name="Shape 23"/>
          <p:cNvSpPr/>
          <p:nvPr/>
        </p:nvSpPr>
        <p:spPr>
          <a:xfrm>
            <a:off x="6448349" y="1962302"/>
            <a:ext cx="5048402" cy="466344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24"/>
          <p:cNvSpPr/>
          <p:nvPr/>
        </p:nvSpPr>
        <p:spPr>
          <a:xfrm>
            <a:off x="6448349" y="1962302"/>
            <a:ext cx="1543507" cy="466344"/>
          </a:xfrm>
          <a:prstGeom prst="rect">
            <a:avLst/>
          </a:prstGeom>
          <a:solidFill>
            <a:srgbClr val="4F46E5">
              <a:alpha val="2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25"/>
          <p:cNvSpPr/>
          <p:nvPr/>
        </p:nvSpPr>
        <p:spPr>
          <a:xfrm>
            <a:off x="6448349" y="2419502"/>
            <a:ext cx="1543507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26"/>
          <p:cNvSpPr/>
          <p:nvPr/>
        </p:nvSpPr>
        <p:spPr>
          <a:xfrm>
            <a:off x="7983626" y="1962302"/>
            <a:ext cx="1514246" cy="466344"/>
          </a:xfrm>
          <a:prstGeom prst="rect">
            <a:avLst/>
          </a:prstGeom>
          <a:solidFill>
            <a:srgbClr val="4F46E5">
              <a:alpha val="2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27"/>
          <p:cNvSpPr/>
          <p:nvPr/>
        </p:nvSpPr>
        <p:spPr>
          <a:xfrm>
            <a:off x="7983626" y="2419502"/>
            <a:ext cx="1514246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28"/>
          <p:cNvSpPr/>
          <p:nvPr/>
        </p:nvSpPr>
        <p:spPr>
          <a:xfrm>
            <a:off x="9494215" y="1962302"/>
            <a:ext cx="2009851" cy="466344"/>
          </a:xfrm>
          <a:prstGeom prst="rect">
            <a:avLst/>
          </a:prstGeom>
          <a:solidFill>
            <a:srgbClr val="4F46E5">
              <a:alpha val="2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7" name="Shape 29"/>
          <p:cNvSpPr/>
          <p:nvPr/>
        </p:nvSpPr>
        <p:spPr>
          <a:xfrm>
            <a:off x="9494215" y="2419502"/>
            <a:ext cx="2009851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0"/>
          <p:cNvSpPr txBox="1"/>
          <p:nvPr/>
        </p:nvSpPr>
        <p:spPr>
          <a:xfrm>
            <a:off x="6601054" y="2076602"/>
            <a:ext cx="5431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솔루션</a:t>
            </a:r>
            <a:endParaRPr lang="en-US" sz="1200" dirty="0"/>
          </a:p>
        </p:txBody>
      </p:sp>
      <p:sp>
        <p:nvSpPr>
          <p:cNvPr id="39" name="Text 31"/>
          <p:cNvSpPr txBox="1"/>
          <p:nvPr/>
        </p:nvSpPr>
        <p:spPr>
          <a:xfrm>
            <a:off x="8135417" y="2076602"/>
            <a:ext cx="4005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특징</a:t>
            </a:r>
            <a:endParaRPr lang="en-US" sz="1200" dirty="0"/>
          </a:p>
        </p:txBody>
      </p:sp>
      <p:sp>
        <p:nvSpPr>
          <p:cNvPr id="40" name="Text 32"/>
          <p:cNvSpPr txBox="1"/>
          <p:nvPr/>
        </p:nvSpPr>
        <p:spPr>
          <a:xfrm>
            <a:off x="9646920" y="2076602"/>
            <a:ext cx="5431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한계점</a:t>
            </a:r>
            <a:endParaRPr lang="en-US" sz="1200" dirty="0"/>
          </a:p>
        </p:txBody>
      </p:sp>
      <p:sp>
        <p:nvSpPr>
          <p:cNvPr id="41" name="Shape 33"/>
          <p:cNvSpPr/>
          <p:nvPr/>
        </p:nvSpPr>
        <p:spPr>
          <a:xfrm>
            <a:off x="6448349" y="2428646"/>
            <a:ext cx="5048402" cy="694944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2" name="Shape 34"/>
          <p:cNvSpPr/>
          <p:nvPr/>
        </p:nvSpPr>
        <p:spPr>
          <a:xfrm>
            <a:off x="6448349" y="3114446"/>
            <a:ext cx="1543507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43" name="Image 6" descr="preencoded.png"/>
          <p:cNvPicPr>
            <a:picLocks noChangeAspect="1"/>
          </p:cNvPicPr>
          <p:nvPr/>
        </p:nvPicPr>
        <p:blipFill>
          <a:blip r:embed="rId9"/>
          <a:srcRect l="-33" r="-33"/>
          <a:stretch/>
        </p:blipFill>
        <p:spPr>
          <a:xfrm>
            <a:off x="6601054" y="2704795"/>
            <a:ext cx="171907" cy="152705"/>
          </a:xfrm>
          <a:prstGeom prst="rect">
            <a:avLst/>
          </a:prstGeom>
        </p:spPr>
      </p:pic>
      <p:sp>
        <p:nvSpPr>
          <p:cNvPr id="44" name="Shape 35"/>
          <p:cNvSpPr/>
          <p:nvPr/>
        </p:nvSpPr>
        <p:spPr>
          <a:xfrm>
            <a:off x="6448349" y="3819449"/>
            <a:ext cx="5048402" cy="685800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5" name="Shape 36"/>
          <p:cNvSpPr/>
          <p:nvPr/>
        </p:nvSpPr>
        <p:spPr>
          <a:xfrm>
            <a:off x="7983626" y="3114446"/>
            <a:ext cx="1514246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6" name="Shape 37"/>
          <p:cNvSpPr/>
          <p:nvPr/>
        </p:nvSpPr>
        <p:spPr>
          <a:xfrm>
            <a:off x="9494215" y="3114446"/>
            <a:ext cx="2009851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7" name="Shape 38"/>
          <p:cNvSpPr/>
          <p:nvPr/>
        </p:nvSpPr>
        <p:spPr>
          <a:xfrm>
            <a:off x="6448349" y="3810305"/>
            <a:ext cx="1543507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8" name="Shape 39"/>
          <p:cNvSpPr/>
          <p:nvPr/>
        </p:nvSpPr>
        <p:spPr>
          <a:xfrm>
            <a:off x="7983626" y="3810305"/>
            <a:ext cx="1514246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9" name="Shape 40"/>
          <p:cNvSpPr/>
          <p:nvPr/>
        </p:nvSpPr>
        <p:spPr>
          <a:xfrm>
            <a:off x="9494215" y="3810305"/>
            <a:ext cx="2009851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0" name="Text 41"/>
          <p:cNvSpPr txBox="1"/>
          <p:nvPr/>
        </p:nvSpPr>
        <p:spPr>
          <a:xfrm>
            <a:off x="6810451" y="2657246"/>
            <a:ext cx="9528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Waze/Tmap</a:t>
            </a:r>
            <a:endParaRPr lang="en-US" sz="1200" dirty="0"/>
          </a:p>
        </p:txBody>
      </p:sp>
      <p:sp>
        <p:nvSpPr>
          <p:cNvPr id="51" name="Text 42"/>
          <p:cNvSpPr txBox="1"/>
          <p:nvPr/>
        </p:nvSpPr>
        <p:spPr>
          <a:xfrm>
            <a:off x="8135417" y="2657246"/>
            <a:ext cx="12765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서버 기반 2D 정보</a:t>
            </a:r>
            <a:endParaRPr lang="en-US" sz="1200" dirty="0"/>
          </a:p>
        </p:txBody>
      </p:sp>
      <p:sp>
        <p:nvSpPr>
          <p:cNvPr id="52" name="Text 43"/>
          <p:cNvSpPr txBox="1"/>
          <p:nvPr/>
        </p:nvSpPr>
        <p:spPr>
          <a:xfrm>
            <a:off x="9646920" y="2542946"/>
            <a:ext cx="178125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AR </a:t>
            </a:r>
            <a:r>
              <a:rPr lang="en-US" sz="1200" dirty="0" err="1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시각화</a:t>
            </a: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200" dirty="0" err="1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불가</a:t>
            </a:r>
            <a:endParaRPr lang="en-US" sz="1200" dirty="0">
              <a:solidFill>
                <a:srgbClr val="FFFFFF"/>
              </a:solidFill>
              <a:latin typeface="Noto Sans KR" pitchFamily="34" charset="0"/>
              <a:ea typeface="Noto Sans KR" pitchFamily="34" charset="-122"/>
              <a:cs typeface="Noto Sans KR" pitchFamily="34" charset="-120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sz="1200" dirty="0" err="1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</a:t>
            </a: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지연 발생</a:t>
            </a:r>
            <a:endParaRPr lang="en-US" sz="1200" dirty="0"/>
          </a:p>
        </p:txBody>
      </p:sp>
      <p:pic>
        <p:nvPicPr>
          <p:cNvPr id="53" name="Image 7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6601054" y="3391052"/>
            <a:ext cx="152705" cy="152705"/>
          </a:xfrm>
          <a:prstGeom prst="rect">
            <a:avLst/>
          </a:prstGeom>
        </p:spPr>
      </p:pic>
      <p:sp>
        <p:nvSpPr>
          <p:cNvPr id="54" name="Text 44"/>
          <p:cNvSpPr txBox="1"/>
          <p:nvPr/>
        </p:nvSpPr>
        <p:spPr>
          <a:xfrm>
            <a:off x="6810451" y="3354934"/>
            <a:ext cx="12006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Mobileye/ADAS</a:t>
            </a:r>
            <a:endParaRPr lang="en-US" sz="1200" dirty="0"/>
          </a:p>
        </p:txBody>
      </p:sp>
      <p:sp>
        <p:nvSpPr>
          <p:cNvPr id="55" name="Text 45"/>
          <p:cNvSpPr txBox="1"/>
          <p:nvPr/>
        </p:nvSpPr>
        <p:spPr>
          <a:xfrm>
            <a:off x="8135417" y="3238805"/>
            <a:ext cx="12289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내 차량 시야만 인지</a:t>
            </a:r>
            <a:endParaRPr lang="en-US" sz="1200" dirty="0"/>
          </a:p>
        </p:txBody>
      </p:sp>
      <p:sp>
        <p:nvSpPr>
          <p:cNvPr id="56" name="Text 46"/>
          <p:cNvSpPr txBox="1"/>
          <p:nvPr/>
        </p:nvSpPr>
        <p:spPr>
          <a:xfrm>
            <a:off x="9646920" y="3238805"/>
            <a:ext cx="16962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네트워크 </a:t>
            </a:r>
            <a:r>
              <a:rPr lang="en-US" sz="1200" dirty="0" err="1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공유</a:t>
            </a: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200" dirty="0" err="1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없음</a:t>
            </a:r>
            <a:endParaRPr lang="en-US" sz="1200" dirty="0">
              <a:solidFill>
                <a:srgbClr val="FFFFFF"/>
              </a:solidFill>
              <a:latin typeface="Noto Sans KR" pitchFamily="34" charset="0"/>
              <a:ea typeface="Noto Sans KR" pitchFamily="34" charset="-122"/>
              <a:cs typeface="Noto Sans KR" pitchFamily="34" charset="-120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ko-KR" alt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</a:rPr>
              <a:t>제한적 시야</a:t>
            </a:r>
            <a:endParaRPr lang="en-US" sz="1200" dirty="0"/>
          </a:p>
        </p:txBody>
      </p:sp>
      <p:pic>
        <p:nvPicPr>
          <p:cNvPr id="57" name="Image 8" descr="preencoded.png"/>
          <p:cNvPicPr>
            <a:picLocks noChangeAspect="1"/>
          </p:cNvPicPr>
          <p:nvPr/>
        </p:nvPicPr>
        <p:blipFill>
          <a:blip r:embed="rId11"/>
          <a:srcRect l="-33" r="-33"/>
          <a:stretch/>
        </p:blipFill>
        <p:spPr>
          <a:xfrm>
            <a:off x="6601054" y="4095598"/>
            <a:ext cx="171907" cy="152705"/>
          </a:xfrm>
          <a:prstGeom prst="rect">
            <a:avLst/>
          </a:prstGeom>
        </p:spPr>
      </p:pic>
      <p:sp>
        <p:nvSpPr>
          <p:cNvPr id="58" name="Text 47"/>
          <p:cNvSpPr txBox="1"/>
          <p:nvPr/>
        </p:nvSpPr>
        <p:spPr>
          <a:xfrm>
            <a:off x="6810451" y="4048049"/>
            <a:ext cx="8961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A78B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PathGuard</a:t>
            </a:r>
            <a:endParaRPr lang="en-US" sz="1200" dirty="0"/>
          </a:p>
        </p:txBody>
      </p:sp>
      <p:sp>
        <p:nvSpPr>
          <p:cNvPr id="59" name="Text 48"/>
          <p:cNvSpPr txBox="1"/>
          <p:nvPr/>
        </p:nvSpPr>
        <p:spPr>
          <a:xfrm>
            <a:off x="8135417" y="3933749"/>
            <a:ext cx="1124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A78B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V2V 네트워크 + 3D AR</a:t>
            </a:r>
            <a:endParaRPr lang="en-US" sz="1200" dirty="0"/>
          </a:p>
        </p:txBody>
      </p:sp>
      <p:sp>
        <p:nvSpPr>
          <p:cNvPr id="60" name="Text 49"/>
          <p:cNvSpPr txBox="1"/>
          <p:nvPr/>
        </p:nvSpPr>
        <p:spPr>
          <a:xfrm>
            <a:off x="9646920" y="4048049"/>
            <a:ext cx="17913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A78B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유일한 전지적 시야 솔루션</a:t>
            </a:r>
            <a:endParaRPr lang="en-US" sz="1200" dirty="0"/>
          </a:p>
        </p:txBody>
      </p:sp>
      <p:sp>
        <p:nvSpPr>
          <p:cNvPr id="61" name="Shape 50"/>
          <p:cNvSpPr/>
          <p:nvPr/>
        </p:nvSpPr>
        <p:spPr>
          <a:xfrm>
            <a:off x="6448349" y="4657954"/>
            <a:ext cx="5048402" cy="1009498"/>
          </a:xfrm>
          <a:prstGeom prst="roundRect">
            <a:avLst>
              <a:gd name="adj" fmla="val 6836"/>
            </a:avLst>
          </a:prstGeom>
          <a:solidFill>
            <a:srgbClr val="4C1D95">
              <a:alpha val="20000"/>
            </a:srgbClr>
          </a:solidFill>
          <a:ln w="12700">
            <a:solidFill>
              <a:srgbClr val="8B5CF6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62" name="Image 9" descr="preencoded.png"/>
          <p:cNvPicPr>
            <a:picLocks noChangeAspect="1"/>
          </p:cNvPicPr>
          <p:nvPr/>
        </p:nvPicPr>
        <p:blipFill>
          <a:blip r:embed="rId12"/>
          <a:srcRect l="-133" r="-133"/>
          <a:stretch/>
        </p:blipFill>
        <p:spPr>
          <a:xfrm>
            <a:off x="6610198" y="5038344"/>
            <a:ext cx="171907" cy="228600"/>
          </a:xfrm>
          <a:prstGeom prst="rect">
            <a:avLst/>
          </a:prstGeom>
        </p:spPr>
      </p:pic>
      <p:sp>
        <p:nvSpPr>
          <p:cNvPr id="64" name="Text 52"/>
          <p:cNvSpPr txBox="1"/>
          <p:nvPr/>
        </p:nvSpPr>
        <p:spPr>
          <a:xfrm>
            <a:off x="6896405" y="4768596"/>
            <a:ext cx="4524451" cy="737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PathGuard는 단순한 내비게이션이나 경고 시스템이 아닌, 다른 차량의 시야를 공유받아 운전자의 물리적 시야를 확장하는 유일한 솔루션입니다.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0E1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 txBox="1"/>
          <p:nvPr/>
        </p:nvSpPr>
        <p:spPr>
          <a:xfrm>
            <a:off x="152705" y="133502"/>
            <a:ext cx="259141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사업성 및 비즈니스 모델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2705" y="487375"/>
            <a:ext cx="36009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A5B4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혁신적인 기술로 새로운 도로 안전 생태계를 구축합니다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52705" y="830275"/>
            <a:ext cx="3905402" cy="5333695"/>
          </a:xfrm>
          <a:prstGeom prst="roundRect">
            <a:avLst>
              <a:gd name="adj" fmla="val 457"/>
            </a:avLst>
          </a:prstGeom>
          <a:solidFill>
            <a:srgbClr val="0F0F19">
              <a:alpha val="70000"/>
            </a:srgbClr>
          </a:solidFill>
          <a:ln/>
          <a:effectLst>
            <a:outerShdw blurRad="139700" dist="12700" dir="16200000" algn="bl" rotWithShape="0">
              <a:srgbClr val="8B5CF6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152705" y="830275"/>
            <a:ext cx="3905402" cy="28346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244145" y="1303020"/>
            <a:ext cx="3724351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244145" y="950062"/>
            <a:ext cx="304495" cy="304495"/>
          </a:xfrm>
          <a:prstGeom prst="ellipse">
            <a:avLst/>
          </a:prstGeom>
          <a:solidFill>
            <a:srgbClr val="4C1D95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7063" y="1007669"/>
            <a:ext cx="237744" cy="190195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662940" y="960120"/>
            <a:ext cx="1077163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A78B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타겟 고객층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244145" y="1386230"/>
            <a:ext cx="267005" cy="267005"/>
          </a:xfrm>
          <a:prstGeom prst="ellipse">
            <a:avLst/>
          </a:prstGeom>
          <a:solidFill>
            <a:srgbClr val="5B21B6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rcRect t="-180" b="-180"/>
          <a:stretch/>
        </p:blipFill>
        <p:spPr>
          <a:xfrm>
            <a:off x="281635" y="1443838"/>
            <a:ext cx="190195" cy="152705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244145" y="2372868"/>
            <a:ext cx="267005" cy="267005"/>
          </a:xfrm>
          <a:prstGeom prst="ellipse">
            <a:avLst/>
          </a:prstGeom>
          <a:solidFill>
            <a:srgbClr val="5B21B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0"/>
          <p:cNvSpPr/>
          <p:nvPr/>
        </p:nvSpPr>
        <p:spPr>
          <a:xfrm>
            <a:off x="244145" y="3359506"/>
            <a:ext cx="267005" cy="267005"/>
          </a:xfrm>
          <a:prstGeom prst="ellipse">
            <a:avLst/>
          </a:prstGeom>
          <a:solidFill>
            <a:srgbClr val="5B21B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1"/>
          <p:cNvSpPr txBox="1"/>
          <p:nvPr/>
        </p:nvSpPr>
        <p:spPr>
          <a:xfrm>
            <a:off x="587045" y="1386230"/>
            <a:ext cx="12618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C4B5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반응속도 느린 사람</a:t>
            </a:r>
            <a:endParaRPr lang="en-US" sz="1100" dirty="0"/>
          </a:p>
        </p:txBody>
      </p:sp>
      <p:sp>
        <p:nvSpPr>
          <p:cNvPr id="16" name="Text 12"/>
          <p:cNvSpPr txBox="1"/>
          <p:nvPr/>
        </p:nvSpPr>
        <p:spPr>
          <a:xfrm>
            <a:off x="587045" y="2372868"/>
            <a:ext cx="1566367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C4B5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교통사고 걱정 있는 사람</a:t>
            </a:r>
            <a:endParaRPr lang="en-US" sz="1100" dirty="0"/>
          </a:p>
        </p:txBody>
      </p:sp>
      <p:sp>
        <p:nvSpPr>
          <p:cNvPr id="17" name="Text 13"/>
          <p:cNvSpPr txBox="1"/>
          <p:nvPr/>
        </p:nvSpPr>
        <p:spPr>
          <a:xfrm>
            <a:off x="587045" y="1619402"/>
            <a:ext cx="17337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고령 운전자 (65세 이상)</a:t>
            </a:r>
            <a:endParaRPr lang="en-US" sz="1200" dirty="0"/>
          </a:p>
        </p:txBody>
      </p:sp>
      <p:sp>
        <p:nvSpPr>
          <p:cNvPr id="18" name="Text 14"/>
          <p:cNvSpPr txBox="1"/>
          <p:nvPr/>
        </p:nvSpPr>
        <p:spPr>
          <a:xfrm>
            <a:off x="587045" y="1848002"/>
            <a:ext cx="22960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초보 운전자 (면허 취득 1년 이내)</a:t>
            </a:r>
            <a:endParaRPr lang="en-US" sz="1200" dirty="0"/>
          </a:p>
        </p:txBody>
      </p:sp>
      <p:sp>
        <p:nvSpPr>
          <p:cNvPr id="19" name="Text 15"/>
          <p:cNvSpPr txBox="1"/>
          <p:nvPr/>
        </p:nvSpPr>
        <p:spPr>
          <a:xfrm>
            <a:off x="587045" y="2076602"/>
            <a:ext cx="14200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장애를 가진 운전자</a:t>
            </a:r>
            <a:endParaRPr lang="en-US" sz="1200" dirty="0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rcRect t="-180" b="-180"/>
          <a:stretch/>
        </p:blipFill>
        <p:spPr>
          <a:xfrm>
            <a:off x="281635" y="2430475"/>
            <a:ext cx="190195" cy="152705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587045" y="3359506"/>
            <a:ext cx="994867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C4B5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안전 민감 계층</a:t>
            </a:r>
            <a:endParaRPr lang="en-US" sz="1100" dirty="0"/>
          </a:p>
        </p:txBody>
      </p:sp>
      <p:sp>
        <p:nvSpPr>
          <p:cNvPr id="22" name="Text 17"/>
          <p:cNvSpPr txBox="1"/>
          <p:nvPr/>
        </p:nvSpPr>
        <p:spPr>
          <a:xfrm>
            <a:off x="587045" y="2605126"/>
            <a:ext cx="18480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가족 운전자 (어린이 탑승)</a:t>
            </a:r>
            <a:endParaRPr lang="en-US" sz="1200" dirty="0"/>
          </a:p>
        </p:txBody>
      </p:sp>
      <p:sp>
        <p:nvSpPr>
          <p:cNvPr id="23" name="Text 18"/>
          <p:cNvSpPr txBox="1"/>
          <p:nvPr/>
        </p:nvSpPr>
        <p:spPr>
          <a:xfrm>
            <a:off x="587045" y="2833726"/>
            <a:ext cx="18388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교통사고 트라우마 보유자</a:t>
            </a:r>
            <a:endParaRPr lang="en-US" sz="1200" dirty="0"/>
          </a:p>
        </p:txBody>
      </p:sp>
      <p:sp>
        <p:nvSpPr>
          <p:cNvPr id="24" name="Text 19"/>
          <p:cNvSpPr txBox="1"/>
          <p:nvPr/>
        </p:nvSpPr>
        <p:spPr>
          <a:xfrm>
            <a:off x="587045" y="3062326"/>
            <a:ext cx="14200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통근·장거리 운전자</a:t>
            </a:r>
            <a:endParaRPr lang="en-US" sz="1200" dirty="0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300838" y="3417113"/>
            <a:ext cx="152705" cy="152705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587045" y="3591763"/>
            <a:ext cx="18004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</a:t>
            </a:r>
            <a:r>
              <a:rPr lang="en-US" sz="1200" dirty="0" err="1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화물</a:t>
            </a: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/</a:t>
            </a:r>
            <a:r>
              <a:rPr lang="ko-KR" alt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트럭</a:t>
            </a: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등 </a:t>
            </a:r>
            <a:r>
              <a:rPr lang="en-US" sz="1200" dirty="0" err="1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직업</a:t>
            </a: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200" dirty="0" err="1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운전자</a:t>
            </a:r>
            <a:endParaRPr lang="en-US" sz="1200" dirty="0"/>
          </a:p>
        </p:txBody>
      </p:sp>
      <p:sp>
        <p:nvSpPr>
          <p:cNvPr id="29" name="Shape 23"/>
          <p:cNvSpPr/>
          <p:nvPr/>
        </p:nvSpPr>
        <p:spPr>
          <a:xfrm>
            <a:off x="244145" y="4275866"/>
            <a:ext cx="3724351" cy="761695"/>
          </a:xfrm>
          <a:prstGeom prst="roundRect">
            <a:avLst>
              <a:gd name="adj" fmla="val 12005"/>
            </a:avLst>
          </a:prstGeom>
          <a:solidFill>
            <a:srgbClr val="4C1D95">
              <a:alpha val="2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4"/>
          <p:cNvSpPr txBox="1"/>
          <p:nvPr/>
        </p:nvSpPr>
        <p:spPr>
          <a:xfrm>
            <a:off x="1838858" y="4351761"/>
            <a:ext cx="6336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4B5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시장 규모</a:t>
            </a:r>
            <a:endParaRPr lang="en-US" sz="1000" dirty="0"/>
          </a:p>
        </p:txBody>
      </p:sp>
      <p:sp>
        <p:nvSpPr>
          <p:cNvPr id="31" name="Text 25"/>
          <p:cNvSpPr txBox="1"/>
          <p:nvPr/>
        </p:nvSpPr>
        <p:spPr>
          <a:xfrm>
            <a:off x="1181405" y="4580361"/>
            <a:ext cx="194858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연간 운전면허 취득자: 약 65만 명</a:t>
            </a:r>
            <a:endParaRPr lang="en-US" sz="1000" dirty="0"/>
          </a:p>
        </p:txBody>
      </p:sp>
      <p:sp>
        <p:nvSpPr>
          <p:cNvPr id="32" name="Text 26"/>
          <p:cNvSpPr txBox="1"/>
          <p:nvPr/>
        </p:nvSpPr>
        <p:spPr>
          <a:xfrm>
            <a:off x="1142086" y="4770556"/>
            <a:ext cx="202448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고령 운전자: 약 380만 명 (증가 중)</a:t>
            </a:r>
            <a:endParaRPr lang="en-US" sz="1000" dirty="0"/>
          </a:p>
        </p:txBody>
      </p:sp>
      <p:sp>
        <p:nvSpPr>
          <p:cNvPr id="33" name="Shape 27"/>
          <p:cNvSpPr/>
          <p:nvPr/>
        </p:nvSpPr>
        <p:spPr>
          <a:xfrm>
            <a:off x="4144975" y="830275"/>
            <a:ext cx="3905402" cy="5333695"/>
          </a:xfrm>
          <a:prstGeom prst="roundRect">
            <a:avLst>
              <a:gd name="adj" fmla="val 457"/>
            </a:avLst>
          </a:prstGeom>
          <a:solidFill>
            <a:srgbClr val="0F0F19">
              <a:alpha val="70000"/>
            </a:srgbClr>
          </a:solidFill>
          <a:ln/>
          <a:effectLst>
            <a:outerShdw blurRad="139700" dist="12700" dir="16200000" algn="bl" rotWithShape="0">
              <a:srgbClr val="3B82F6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28"/>
          <p:cNvSpPr/>
          <p:nvPr/>
        </p:nvSpPr>
        <p:spPr>
          <a:xfrm>
            <a:off x="4144975" y="830275"/>
            <a:ext cx="3905402" cy="28346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29"/>
          <p:cNvSpPr/>
          <p:nvPr/>
        </p:nvSpPr>
        <p:spPr>
          <a:xfrm>
            <a:off x="4236415" y="1303020"/>
            <a:ext cx="3724351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30"/>
          <p:cNvSpPr/>
          <p:nvPr/>
        </p:nvSpPr>
        <p:spPr>
          <a:xfrm>
            <a:off x="4236415" y="950062"/>
            <a:ext cx="304495" cy="304495"/>
          </a:xfrm>
          <a:prstGeom prst="ellipse">
            <a:avLst/>
          </a:prstGeom>
          <a:solidFill>
            <a:srgbClr val="1E3A8A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7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4294022" y="1007669"/>
            <a:ext cx="190195" cy="190195"/>
          </a:xfrm>
          <a:prstGeom prst="rect">
            <a:avLst/>
          </a:prstGeom>
        </p:spPr>
      </p:pic>
      <p:sp>
        <p:nvSpPr>
          <p:cNvPr id="38" name="Text 31"/>
          <p:cNvSpPr txBox="1"/>
          <p:nvPr/>
        </p:nvSpPr>
        <p:spPr>
          <a:xfrm>
            <a:off x="4656125" y="960120"/>
            <a:ext cx="171450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60A5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비즈니스 모델 (BM)</a:t>
            </a:r>
            <a:endParaRPr lang="en-US" sz="1500" dirty="0"/>
          </a:p>
        </p:txBody>
      </p:sp>
      <p:pic>
        <p:nvPicPr>
          <p:cNvPr id="39" name="Image 5" descr="preencoded.png"/>
          <p:cNvPicPr>
            <a:picLocks noChangeAspect="1"/>
          </p:cNvPicPr>
          <p:nvPr/>
        </p:nvPicPr>
        <p:blipFill>
          <a:blip r:embed="rId8"/>
          <a:srcRect l="-33" r="-33"/>
          <a:stretch/>
        </p:blipFill>
        <p:spPr>
          <a:xfrm>
            <a:off x="4236415" y="1424635"/>
            <a:ext cx="171907" cy="152705"/>
          </a:xfrm>
          <a:prstGeom prst="rect">
            <a:avLst/>
          </a:prstGeom>
        </p:spPr>
      </p:pic>
      <p:sp>
        <p:nvSpPr>
          <p:cNvPr id="40" name="Text 32"/>
          <p:cNvSpPr txBox="1"/>
          <p:nvPr/>
        </p:nvSpPr>
        <p:spPr>
          <a:xfrm>
            <a:off x="4484218" y="1386230"/>
            <a:ext cx="7242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60A5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수익 모델</a:t>
            </a:r>
            <a:endParaRPr lang="en-US" sz="1200" dirty="0"/>
          </a:p>
        </p:txBody>
      </p:sp>
      <p:sp>
        <p:nvSpPr>
          <p:cNvPr id="41" name="Text 33"/>
          <p:cNvSpPr txBox="1"/>
          <p:nvPr/>
        </p:nvSpPr>
        <p:spPr>
          <a:xfrm>
            <a:off x="4236415" y="1645920"/>
            <a:ext cx="4096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BFDB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B2C</a:t>
            </a:r>
            <a:endParaRPr lang="en-US" sz="1200" dirty="0"/>
          </a:p>
        </p:txBody>
      </p:sp>
      <p:sp>
        <p:nvSpPr>
          <p:cNvPr id="42" name="Text 34"/>
          <p:cNvSpPr txBox="1"/>
          <p:nvPr/>
        </p:nvSpPr>
        <p:spPr>
          <a:xfrm>
            <a:off x="4236415" y="2685593"/>
            <a:ext cx="4096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BFDB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B2B</a:t>
            </a:r>
            <a:endParaRPr lang="en-US" sz="1200" dirty="0"/>
          </a:p>
        </p:txBody>
      </p:sp>
      <p:sp>
        <p:nvSpPr>
          <p:cNvPr id="43" name="Text 35"/>
          <p:cNvSpPr txBox="1"/>
          <p:nvPr/>
        </p:nvSpPr>
        <p:spPr>
          <a:xfrm>
            <a:off x="4465015" y="1912010"/>
            <a:ext cx="139263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개인 구독료: 월 1만원</a:t>
            </a:r>
            <a:endParaRPr lang="en-US" sz="1000" dirty="0"/>
          </a:p>
        </p:txBody>
      </p:sp>
      <p:sp>
        <p:nvSpPr>
          <p:cNvPr id="44" name="Text 36"/>
          <p:cNvSpPr txBox="1"/>
          <p:nvPr/>
        </p:nvSpPr>
        <p:spPr>
          <a:xfrm>
            <a:off x="4465015" y="2129638"/>
            <a:ext cx="134508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연간 패키지: 20% 할인</a:t>
            </a:r>
            <a:endParaRPr lang="en-US" sz="1000" dirty="0"/>
          </a:p>
        </p:txBody>
      </p:sp>
      <p:sp>
        <p:nvSpPr>
          <p:cNvPr id="45" name="Text 37"/>
          <p:cNvSpPr txBox="1"/>
          <p:nvPr/>
        </p:nvSpPr>
        <p:spPr>
          <a:xfrm>
            <a:off x="4465015" y="2346350"/>
            <a:ext cx="151699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초기 얼리어답터 특별 할인</a:t>
            </a:r>
            <a:endParaRPr lang="en-US" sz="1000" dirty="0"/>
          </a:p>
        </p:txBody>
      </p:sp>
      <p:sp>
        <p:nvSpPr>
          <p:cNvPr id="46" name="Text 38"/>
          <p:cNvSpPr txBox="1"/>
          <p:nvPr/>
        </p:nvSpPr>
        <p:spPr>
          <a:xfrm>
            <a:off x="4465015" y="2952598"/>
            <a:ext cx="180228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플릿 대량 계약 (물류, 택시회사)</a:t>
            </a:r>
            <a:endParaRPr lang="en-US" sz="1000" dirty="0"/>
          </a:p>
        </p:txBody>
      </p:sp>
      <p:sp>
        <p:nvSpPr>
          <p:cNvPr id="47" name="Text 39"/>
          <p:cNvSpPr txBox="1"/>
          <p:nvPr/>
        </p:nvSpPr>
        <p:spPr>
          <a:xfrm>
            <a:off x="4465015" y="3169310"/>
            <a:ext cx="176479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보험사 제휴 수수료 (할인 연계)</a:t>
            </a:r>
            <a:endParaRPr lang="en-US" sz="1000" dirty="0"/>
          </a:p>
        </p:txBody>
      </p:sp>
      <p:sp>
        <p:nvSpPr>
          <p:cNvPr id="48" name="Text 40"/>
          <p:cNvSpPr txBox="1"/>
          <p:nvPr/>
        </p:nvSpPr>
        <p:spPr>
          <a:xfrm>
            <a:off x="4465015" y="3386938"/>
            <a:ext cx="175473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자동차 제조사 선탑재 라이센스</a:t>
            </a:r>
            <a:endParaRPr lang="en-US" sz="1000" dirty="0"/>
          </a:p>
        </p:txBody>
      </p:sp>
      <p:sp>
        <p:nvSpPr>
          <p:cNvPr id="53" name="Shape 45"/>
          <p:cNvSpPr/>
          <p:nvPr/>
        </p:nvSpPr>
        <p:spPr>
          <a:xfrm>
            <a:off x="4236415" y="4275866"/>
            <a:ext cx="3724351" cy="1257300"/>
          </a:xfrm>
          <a:prstGeom prst="roundRect">
            <a:avLst>
              <a:gd name="adj" fmla="val 4408"/>
            </a:avLst>
          </a:prstGeom>
          <a:solidFill>
            <a:srgbClr val="1E3A8A">
              <a:alpha val="20000"/>
            </a:srgbClr>
          </a:solidFill>
          <a:ln/>
        </p:spPr>
        <p:txBody>
          <a:bodyPr/>
          <a:lstStyle/>
          <a:p>
            <a:endParaRPr lang="ko-KR" altLang="en-US" dirty="0"/>
          </a:p>
        </p:txBody>
      </p:sp>
      <p:sp>
        <p:nvSpPr>
          <p:cNvPr id="54" name="Text 46"/>
          <p:cNvSpPr txBox="1"/>
          <p:nvPr/>
        </p:nvSpPr>
        <p:spPr>
          <a:xfrm>
            <a:off x="5690311" y="4351761"/>
            <a:ext cx="91988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3C5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가치 제안</a:t>
            </a:r>
            <a:endParaRPr lang="en-US" sz="1000" dirty="0"/>
          </a:p>
        </p:txBody>
      </p:sp>
      <p:sp>
        <p:nvSpPr>
          <p:cNvPr id="55" name="Shape 47"/>
          <p:cNvSpPr/>
          <p:nvPr/>
        </p:nvSpPr>
        <p:spPr>
          <a:xfrm>
            <a:off x="4313225" y="4580361"/>
            <a:ext cx="228600" cy="228600"/>
          </a:xfrm>
          <a:prstGeom prst="ellipse">
            <a:avLst/>
          </a:prstGeom>
          <a:solidFill>
            <a:srgbClr val="1E40AF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6" name="Image 6" descr="preencoded.png"/>
          <p:cNvPicPr>
            <a:picLocks noChangeAspect="1"/>
          </p:cNvPicPr>
          <p:nvPr/>
        </p:nvPicPr>
        <p:blipFill>
          <a:blip r:embed="rId9"/>
          <a:srcRect l="-837" r="-837"/>
          <a:stretch/>
        </p:blipFill>
        <p:spPr>
          <a:xfrm>
            <a:off x="4350715" y="4627910"/>
            <a:ext cx="152705" cy="133502"/>
          </a:xfrm>
          <a:prstGeom prst="rect">
            <a:avLst/>
          </a:prstGeom>
        </p:spPr>
      </p:pic>
      <p:sp>
        <p:nvSpPr>
          <p:cNvPr id="57" name="Shape 48"/>
          <p:cNvSpPr/>
          <p:nvPr/>
        </p:nvSpPr>
        <p:spPr>
          <a:xfrm>
            <a:off x="4313225" y="4884856"/>
            <a:ext cx="228600" cy="228600"/>
          </a:xfrm>
          <a:prstGeom prst="ellipse">
            <a:avLst/>
          </a:prstGeom>
          <a:solidFill>
            <a:srgbClr val="1E40A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8" name="Text 49"/>
          <p:cNvSpPr txBox="1"/>
          <p:nvPr/>
        </p:nvSpPr>
        <p:spPr>
          <a:xfrm>
            <a:off x="4617720" y="4599563"/>
            <a:ext cx="21579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사고 예방으로 보험료 최대 15% 절감</a:t>
            </a:r>
            <a:endParaRPr lang="en-US" sz="1000" dirty="0"/>
          </a:p>
        </p:txBody>
      </p:sp>
      <p:pic>
        <p:nvPicPr>
          <p:cNvPr id="59" name="Image 7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4360774" y="4932405"/>
            <a:ext cx="133502" cy="133502"/>
          </a:xfrm>
          <a:prstGeom prst="rect">
            <a:avLst/>
          </a:prstGeom>
        </p:spPr>
      </p:pic>
      <p:sp>
        <p:nvSpPr>
          <p:cNvPr id="60" name="Shape 50"/>
          <p:cNvSpPr/>
          <p:nvPr/>
        </p:nvSpPr>
        <p:spPr>
          <a:xfrm>
            <a:off x="4313225" y="5190266"/>
            <a:ext cx="228600" cy="228600"/>
          </a:xfrm>
          <a:prstGeom prst="ellipse">
            <a:avLst/>
          </a:prstGeom>
          <a:solidFill>
            <a:srgbClr val="1E40A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1" name="Text 51"/>
          <p:cNvSpPr txBox="1"/>
          <p:nvPr/>
        </p:nvSpPr>
        <p:spPr>
          <a:xfrm>
            <a:off x="4617720" y="4904059"/>
            <a:ext cx="20052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운전 스트레스 감소 및 주행 편의성</a:t>
            </a:r>
            <a:endParaRPr lang="en-US" sz="1000" dirty="0"/>
          </a:p>
        </p:txBody>
      </p:sp>
      <p:pic>
        <p:nvPicPr>
          <p:cNvPr id="62" name="Image 8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4360774" y="5237815"/>
            <a:ext cx="133502" cy="133502"/>
          </a:xfrm>
          <a:prstGeom prst="rect">
            <a:avLst/>
          </a:prstGeom>
        </p:spPr>
      </p:pic>
      <p:sp>
        <p:nvSpPr>
          <p:cNvPr id="63" name="Text 52"/>
          <p:cNvSpPr txBox="1"/>
          <p:nvPr/>
        </p:nvSpPr>
        <p:spPr>
          <a:xfrm>
            <a:off x="4617720" y="5209468"/>
            <a:ext cx="184343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가족 안심 - 사고 위험 사전 차단</a:t>
            </a:r>
            <a:endParaRPr lang="en-US" sz="1000" dirty="0"/>
          </a:p>
        </p:txBody>
      </p:sp>
      <p:sp>
        <p:nvSpPr>
          <p:cNvPr id="64" name="Shape 53"/>
          <p:cNvSpPr/>
          <p:nvPr/>
        </p:nvSpPr>
        <p:spPr>
          <a:xfrm>
            <a:off x="8138160" y="830275"/>
            <a:ext cx="3905402" cy="5333695"/>
          </a:xfrm>
          <a:prstGeom prst="roundRect">
            <a:avLst>
              <a:gd name="adj" fmla="val 457"/>
            </a:avLst>
          </a:prstGeom>
          <a:solidFill>
            <a:srgbClr val="0F0F19">
              <a:alpha val="70000"/>
            </a:srgbClr>
          </a:solidFill>
          <a:ln/>
          <a:effectLst>
            <a:outerShdw blurRad="139700" dist="12700" dir="16200000" algn="bl" rotWithShape="0">
              <a:srgbClr val="EC4899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5" name="Shape 54"/>
          <p:cNvSpPr/>
          <p:nvPr/>
        </p:nvSpPr>
        <p:spPr>
          <a:xfrm>
            <a:off x="8138160" y="830275"/>
            <a:ext cx="3905402" cy="28346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6" name="Shape 55"/>
          <p:cNvSpPr/>
          <p:nvPr/>
        </p:nvSpPr>
        <p:spPr>
          <a:xfrm>
            <a:off x="8229600" y="1303020"/>
            <a:ext cx="3724351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7" name="Shape 56"/>
          <p:cNvSpPr/>
          <p:nvPr/>
        </p:nvSpPr>
        <p:spPr>
          <a:xfrm>
            <a:off x="8229600" y="950062"/>
            <a:ext cx="304495" cy="304495"/>
          </a:xfrm>
          <a:prstGeom prst="ellipse">
            <a:avLst/>
          </a:prstGeom>
          <a:solidFill>
            <a:srgbClr val="831843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68" name="Image 9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8287207" y="1007669"/>
            <a:ext cx="190195" cy="190195"/>
          </a:xfrm>
          <a:prstGeom prst="rect">
            <a:avLst/>
          </a:prstGeom>
        </p:spPr>
      </p:pic>
      <p:sp>
        <p:nvSpPr>
          <p:cNvPr id="69" name="Text 57"/>
          <p:cNvSpPr txBox="1"/>
          <p:nvPr/>
        </p:nvSpPr>
        <p:spPr>
          <a:xfrm>
            <a:off x="8648395" y="960120"/>
            <a:ext cx="15051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F472B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홍보/마케팅 전략</a:t>
            </a:r>
            <a:endParaRPr lang="en-US" sz="1500" dirty="0"/>
          </a:p>
        </p:txBody>
      </p:sp>
      <p:pic>
        <p:nvPicPr>
          <p:cNvPr id="70" name="Image 10" descr="preencoded.png"/>
          <p:cNvPicPr>
            <a:picLocks noChangeAspect="1"/>
          </p:cNvPicPr>
          <p:nvPr/>
        </p:nvPicPr>
        <p:blipFill>
          <a:blip r:embed="rId13"/>
          <a:srcRect t="-180" b="-180"/>
          <a:stretch/>
        </p:blipFill>
        <p:spPr>
          <a:xfrm>
            <a:off x="8229600" y="1424635"/>
            <a:ext cx="190195" cy="152705"/>
          </a:xfrm>
          <a:prstGeom prst="rect">
            <a:avLst/>
          </a:prstGeom>
        </p:spPr>
      </p:pic>
      <p:sp>
        <p:nvSpPr>
          <p:cNvPr id="71" name="Text 58"/>
          <p:cNvSpPr txBox="1"/>
          <p:nvPr/>
        </p:nvSpPr>
        <p:spPr>
          <a:xfrm>
            <a:off x="8496605" y="1386230"/>
            <a:ext cx="8668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472B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온라인 채널</a:t>
            </a:r>
            <a:endParaRPr lang="en-US" sz="1200" dirty="0"/>
          </a:p>
        </p:txBody>
      </p:sp>
      <p:sp>
        <p:nvSpPr>
          <p:cNvPr id="72" name="Text 59"/>
          <p:cNvSpPr txBox="1"/>
          <p:nvPr/>
        </p:nvSpPr>
        <p:spPr>
          <a:xfrm>
            <a:off x="8477402" y="2784348"/>
            <a:ext cx="10003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472B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오프라인 채널</a:t>
            </a:r>
            <a:endParaRPr lang="en-US" sz="1200" dirty="0"/>
          </a:p>
        </p:txBody>
      </p:sp>
      <p:sp>
        <p:nvSpPr>
          <p:cNvPr id="73" name="Text 60"/>
          <p:cNvSpPr txBox="1"/>
          <p:nvPr/>
        </p:nvSpPr>
        <p:spPr>
          <a:xfrm>
            <a:off x="8458200" y="1645920"/>
            <a:ext cx="17931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유튜브 사고 예방 콘텐츠 시리즈</a:t>
            </a:r>
            <a:endParaRPr lang="en-US" sz="1000" dirty="0"/>
          </a:p>
        </p:txBody>
      </p:sp>
      <p:sp>
        <p:nvSpPr>
          <p:cNvPr id="74" name="Text 61"/>
          <p:cNvSpPr txBox="1"/>
          <p:nvPr/>
        </p:nvSpPr>
        <p:spPr>
          <a:xfrm>
            <a:off x="8458200" y="1862633"/>
            <a:ext cx="18123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네이버 카페/커뮤니티 체험 후기</a:t>
            </a:r>
            <a:endParaRPr lang="en-US" sz="1000" dirty="0"/>
          </a:p>
        </p:txBody>
      </p:sp>
      <p:sp>
        <p:nvSpPr>
          <p:cNvPr id="75" name="Text 62"/>
          <p:cNvSpPr txBox="1"/>
          <p:nvPr/>
        </p:nvSpPr>
        <p:spPr>
          <a:xfrm>
            <a:off x="8458200" y="2080260"/>
            <a:ext cx="165049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SNS 인플루언서 협업 캠페인</a:t>
            </a:r>
            <a:endParaRPr lang="en-US" sz="1000" dirty="0"/>
          </a:p>
        </p:txBody>
      </p:sp>
      <p:sp>
        <p:nvSpPr>
          <p:cNvPr id="76" name="Text 63"/>
          <p:cNvSpPr txBox="1"/>
          <p:nvPr/>
        </p:nvSpPr>
        <p:spPr>
          <a:xfrm>
            <a:off x="8458200" y="2296973"/>
            <a:ext cx="188823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드라이브 VLOG 제작자 제품 협찬</a:t>
            </a:r>
            <a:endParaRPr lang="en-US" sz="1000" dirty="0"/>
          </a:p>
        </p:txBody>
      </p:sp>
      <p:sp>
        <p:nvSpPr>
          <p:cNvPr id="77" name="Text 64"/>
          <p:cNvSpPr txBox="1"/>
          <p:nvPr/>
        </p:nvSpPr>
        <p:spPr>
          <a:xfrm>
            <a:off x="8458200" y="2514600"/>
            <a:ext cx="16788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자동차 전문 블로거 리뷰 영상</a:t>
            </a:r>
            <a:endParaRPr lang="en-US" sz="1000" dirty="0"/>
          </a:p>
        </p:txBody>
      </p:sp>
      <p:pic>
        <p:nvPicPr>
          <p:cNvPr id="78" name="Image 11" descr="preencoded.png"/>
          <p:cNvPicPr>
            <a:picLocks noChangeAspect="1"/>
          </p:cNvPicPr>
          <p:nvPr/>
        </p:nvPicPr>
        <p:blipFill>
          <a:blip r:embed="rId14"/>
          <a:srcRect l="-33" r="-33"/>
          <a:stretch/>
        </p:blipFill>
        <p:spPr>
          <a:xfrm>
            <a:off x="8229600" y="2822753"/>
            <a:ext cx="171907" cy="152705"/>
          </a:xfrm>
          <a:prstGeom prst="rect">
            <a:avLst/>
          </a:prstGeom>
        </p:spPr>
      </p:pic>
      <p:sp>
        <p:nvSpPr>
          <p:cNvPr id="79" name="Text 65"/>
          <p:cNvSpPr txBox="1"/>
          <p:nvPr/>
        </p:nvSpPr>
        <p:spPr>
          <a:xfrm>
            <a:off x="8458200" y="3043123"/>
            <a:ext cx="177393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운전학원/보험사 제휴 프로그램</a:t>
            </a:r>
            <a:endParaRPr lang="en-US" sz="1000" dirty="0"/>
          </a:p>
        </p:txBody>
      </p:sp>
      <p:sp>
        <p:nvSpPr>
          <p:cNvPr id="81" name="Text 67"/>
          <p:cNvSpPr txBox="1"/>
          <p:nvPr/>
        </p:nvSpPr>
        <p:spPr>
          <a:xfrm>
            <a:off x="8458200" y="3256179"/>
            <a:ext cx="191658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시승 체험 부스 운영 (주요 쇼핑몰)</a:t>
            </a:r>
            <a:endParaRPr lang="en-US" sz="1000" dirty="0"/>
          </a:p>
        </p:txBody>
      </p:sp>
      <p:sp>
        <p:nvSpPr>
          <p:cNvPr id="82" name="Text 68"/>
          <p:cNvSpPr txBox="1"/>
          <p:nvPr/>
        </p:nvSpPr>
        <p:spPr>
          <a:xfrm>
            <a:off x="8458200" y="3473806"/>
            <a:ext cx="164043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지자체 교통안전 캠페인 참여</a:t>
            </a:r>
            <a:endParaRPr lang="en-US" sz="1000" dirty="0"/>
          </a:p>
        </p:txBody>
      </p:sp>
      <p:sp>
        <p:nvSpPr>
          <p:cNvPr id="84" name="Shape 70"/>
          <p:cNvSpPr/>
          <p:nvPr/>
        </p:nvSpPr>
        <p:spPr>
          <a:xfrm>
            <a:off x="8223504" y="4277563"/>
            <a:ext cx="3724351" cy="952805"/>
          </a:xfrm>
          <a:prstGeom prst="roundRect">
            <a:avLst>
              <a:gd name="adj" fmla="val 7678"/>
            </a:avLst>
          </a:prstGeom>
          <a:solidFill>
            <a:srgbClr val="831843">
              <a:alpha val="2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5" name="Text 71"/>
          <p:cNvSpPr txBox="1"/>
          <p:nvPr/>
        </p:nvSpPr>
        <p:spPr>
          <a:xfrm>
            <a:off x="9757867" y="4354372"/>
            <a:ext cx="7580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9A8D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메시지</a:t>
            </a:r>
            <a:endParaRPr lang="en-US" sz="1000" dirty="0"/>
          </a:p>
        </p:txBody>
      </p:sp>
      <p:sp>
        <p:nvSpPr>
          <p:cNvPr id="86" name="Text 72"/>
          <p:cNvSpPr txBox="1"/>
          <p:nvPr/>
        </p:nvSpPr>
        <p:spPr>
          <a:xfrm>
            <a:off x="8814206" y="4582972"/>
            <a:ext cx="70043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"사고 전에</a:t>
            </a:r>
            <a:endParaRPr lang="en-US" sz="1000" dirty="0"/>
          </a:p>
        </p:txBody>
      </p:sp>
      <p:sp>
        <p:nvSpPr>
          <p:cNvPr id="87" name="Text 73"/>
          <p:cNvSpPr txBox="1"/>
          <p:nvPr/>
        </p:nvSpPr>
        <p:spPr>
          <a:xfrm>
            <a:off x="8643214" y="4773168"/>
            <a:ext cx="103418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보이지 않던 것이</a:t>
            </a:r>
            <a:endParaRPr lang="en-US" sz="1000" dirty="0"/>
          </a:p>
        </p:txBody>
      </p:sp>
      <p:sp>
        <p:nvSpPr>
          <p:cNvPr id="88" name="Text 74"/>
          <p:cNvSpPr txBox="1"/>
          <p:nvPr/>
        </p:nvSpPr>
        <p:spPr>
          <a:xfrm>
            <a:off x="8801405" y="4963363"/>
            <a:ext cx="71963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보인다면?"</a:t>
            </a:r>
            <a:endParaRPr lang="en-US" sz="1000" dirty="0"/>
          </a:p>
        </p:txBody>
      </p:sp>
      <p:sp>
        <p:nvSpPr>
          <p:cNvPr id="89" name="Text 75"/>
          <p:cNvSpPr txBox="1"/>
          <p:nvPr/>
        </p:nvSpPr>
        <p:spPr>
          <a:xfrm>
            <a:off x="10636606" y="4582972"/>
            <a:ext cx="93908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"사각지대 없는</a:t>
            </a:r>
            <a:endParaRPr lang="en-US" sz="1000" dirty="0"/>
          </a:p>
        </p:txBody>
      </p:sp>
      <p:sp>
        <p:nvSpPr>
          <p:cNvPr id="90" name="Text 76"/>
          <p:cNvSpPr txBox="1"/>
          <p:nvPr/>
        </p:nvSpPr>
        <p:spPr>
          <a:xfrm>
            <a:off x="10810342" y="4773168"/>
            <a:ext cx="59618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운전으로</a:t>
            </a:r>
            <a:endParaRPr lang="en-US" sz="1000" dirty="0"/>
          </a:p>
        </p:txBody>
      </p:sp>
      <p:sp>
        <p:nvSpPr>
          <p:cNvPr id="91" name="Text 77"/>
          <p:cNvSpPr txBox="1"/>
          <p:nvPr/>
        </p:nvSpPr>
        <p:spPr>
          <a:xfrm>
            <a:off x="10575341" y="4963363"/>
            <a:ext cx="106253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가족을 지키세요"</a:t>
            </a:r>
            <a:endParaRPr lang="en-US" sz="1000" dirty="0"/>
          </a:p>
        </p:txBody>
      </p:sp>
      <p:sp>
        <p:nvSpPr>
          <p:cNvPr id="92" name="Text 78"/>
          <p:cNvSpPr txBox="1"/>
          <p:nvPr/>
        </p:nvSpPr>
        <p:spPr>
          <a:xfrm>
            <a:off x="9997440" y="4744821"/>
            <a:ext cx="30083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9A8D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</a:t>
            </a:r>
            <a:endParaRPr lang="en-US" sz="1300" dirty="0"/>
          </a:p>
        </p:txBody>
      </p:sp>
      <p:sp>
        <p:nvSpPr>
          <p:cNvPr id="93" name="Text 79"/>
          <p:cNvSpPr txBox="1"/>
          <p:nvPr/>
        </p:nvSpPr>
        <p:spPr>
          <a:xfrm>
            <a:off x="3520440" y="6334963"/>
            <a:ext cx="8769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78B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PathGuard</a:t>
            </a:r>
            <a:endParaRPr lang="en-US" sz="1200" dirty="0"/>
          </a:p>
        </p:txBody>
      </p:sp>
      <p:sp>
        <p:nvSpPr>
          <p:cNvPr id="94" name="Text 80"/>
          <p:cNvSpPr txBox="1"/>
          <p:nvPr/>
        </p:nvSpPr>
        <p:spPr>
          <a:xfrm>
            <a:off x="4276649" y="6334963"/>
            <a:ext cx="2578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는</a:t>
            </a:r>
            <a:endParaRPr lang="en-US" sz="1200" dirty="0"/>
          </a:p>
        </p:txBody>
      </p:sp>
      <p:sp>
        <p:nvSpPr>
          <p:cNvPr id="95" name="Text 81"/>
          <p:cNvSpPr txBox="1"/>
          <p:nvPr/>
        </p:nvSpPr>
        <p:spPr>
          <a:xfrm>
            <a:off x="4782312" y="6334963"/>
            <a:ext cx="16486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이라는 가치로 시작하여,</a:t>
            </a:r>
            <a:endParaRPr lang="en-US" sz="1200" dirty="0"/>
          </a:p>
        </p:txBody>
      </p:sp>
      <p:sp>
        <p:nvSpPr>
          <p:cNvPr id="96" name="Text 82"/>
          <p:cNvSpPr txBox="1"/>
          <p:nvPr/>
        </p:nvSpPr>
        <p:spPr>
          <a:xfrm>
            <a:off x="7324344" y="6334963"/>
            <a:ext cx="14676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라는 미래를 만듭니다</a:t>
            </a:r>
            <a:endParaRPr lang="en-US" sz="1200" dirty="0"/>
          </a:p>
        </p:txBody>
      </p:sp>
      <p:sp>
        <p:nvSpPr>
          <p:cNvPr id="97" name="Text 83"/>
          <p:cNvSpPr txBox="1"/>
          <p:nvPr/>
        </p:nvSpPr>
        <p:spPr>
          <a:xfrm>
            <a:off x="4417466" y="6334963"/>
            <a:ext cx="4864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0A5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'안전'</a:t>
            </a:r>
            <a:endParaRPr lang="en-US" sz="1200" dirty="0"/>
          </a:p>
        </p:txBody>
      </p:sp>
      <p:sp>
        <p:nvSpPr>
          <p:cNvPr id="98" name="Text 84"/>
          <p:cNvSpPr txBox="1"/>
          <p:nvPr/>
        </p:nvSpPr>
        <p:spPr>
          <a:xfrm>
            <a:off x="6313018" y="6334963"/>
            <a:ext cx="11338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472B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'사고 없는 도로'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1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 txBox="1"/>
          <p:nvPr/>
        </p:nvSpPr>
        <p:spPr>
          <a:xfrm>
            <a:off x="2980944" y="1514246"/>
            <a:ext cx="1543507" cy="8293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500" b="1" dirty="0">
                <a:solidFill>
                  <a:srgbClr val="8B5CF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The</a:t>
            </a:r>
            <a:endParaRPr lang="en-US" sz="4500" dirty="0"/>
          </a:p>
        </p:txBody>
      </p:sp>
      <p:sp>
        <p:nvSpPr>
          <p:cNvPr id="4" name="Text 2"/>
          <p:cNvSpPr txBox="1"/>
          <p:nvPr/>
        </p:nvSpPr>
        <p:spPr>
          <a:xfrm>
            <a:off x="4206240" y="1514246"/>
            <a:ext cx="2419502" cy="8293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500" b="1" dirty="0">
                <a:solidFill>
                  <a:srgbClr val="60A5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Future</a:t>
            </a:r>
            <a:endParaRPr lang="en-US" sz="4500" dirty="0"/>
          </a:p>
        </p:txBody>
      </p:sp>
      <p:sp>
        <p:nvSpPr>
          <p:cNvPr id="5" name="Text 3"/>
          <p:cNvSpPr txBox="1"/>
          <p:nvPr/>
        </p:nvSpPr>
        <p:spPr>
          <a:xfrm>
            <a:off x="6302959" y="1514246"/>
            <a:ext cx="1038758" cy="8293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500" b="1" dirty="0">
                <a:solidFill>
                  <a:srgbClr val="C4B5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of</a:t>
            </a:r>
            <a:endParaRPr lang="en-US" sz="4500" dirty="0"/>
          </a:p>
        </p:txBody>
      </p:sp>
      <p:sp>
        <p:nvSpPr>
          <p:cNvPr id="6" name="Text 4"/>
          <p:cNvSpPr txBox="1"/>
          <p:nvPr/>
        </p:nvSpPr>
        <p:spPr>
          <a:xfrm>
            <a:off x="7020763" y="1514246"/>
            <a:ext cx="2619756" cy="8293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500" b="1" dirty="0">
                <a:solidFill>
                  <a:srgbClr val="93C5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Driving</a:t>
            </a:r>
            <a:endParaRPr lang="en-US" sz="4500" dirty="0"/>
          </a:p>
        </p:txBody>
      </p:sp>
      <p:sp>
        <p:nvSpPr>
          <p:cNvPr id="7" name="Text 5"/>
          <p:cNvSpPr txBox="1"/>
          <p:nvPr/>
        </p:nvSpPr>
        <p:spPr>
          <a:xfrm>
            <a:off x="2772461" y="2676449"/>
            <a:ext cx="6863486" cy="848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5604358" y="4647895"/>
            <a:ext cx="133411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C4B5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Q&amp;A</a:t>
            </a:r>
            <a:endParaRPr lang="en-US" sz="3600" dirty="0"/>
          </a:p>
        </p:txBody>
      </p:sp>
      <p:sp>
        <p:nvSpPr>
          <p:cNvPr id="9" name="Text 17">
            <a:extLst>
              <a:ext uri="{FF2B5EF4-FFF2-40B4-BE49-F238E27FC236}">
                <a16:creationId xmlns:a16="http://schemas.microsoft.com/office/drawing/2014/main" id="{B41E96FC-7675-DE0A-F909-7CE4CC00E08D}"/>
              </a:ext>
            </a:extLst>
          </p:cNvPr>
          <p:cNvSpPr txBox="1"/>
          <p:nvPr/>
        </p:nvSpPr>
        <p:spPr>
          <a:xfrm>
            <a:off x="3732123" y="2676449"/>
            <a:ext cx="4944161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DBEA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HoloLens, V2V, AI가 융합된 AR 드라이빙 솔루션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641</TotalTime>
  <Words>1050</Words>
  <Application>Microsoft Office PowerPoint</Application>
  <PresentationFormat>와이드스크린</PresentationFormat>
  <Paragraphs>262</Paragraphs>
  <Slides>16</Slides>
  <Notes>16</Notes>
  <HiddenSlides>0</HiddenSlides>
  <MMClips>5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19" baseType="lpstr">
      <vt:lpstr>Noto Sans KR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우린 이</cp:lastModifiedBy>
  <cp:revision>15</cp:revision>
  <dcterms:created xsi:type="dcterms:W3CDTF">2025-10-30T11:35:30Z</dcterms:created>
  <dcterms:modified xsi:type="dcterms:W3CDTF">2025-10-31T02:32:38Z</dcterms:modified>
</cp:coreProperties>
</file>